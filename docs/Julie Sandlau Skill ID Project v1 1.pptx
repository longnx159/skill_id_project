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640" r:id="rId4"/>
  </p:sldMasterIdLst>
  <p:notesMasterIdLst>
    <p:notesMasterId r:id="rId17"/>
  </p:notesMasterIdLst>
  <p:sldIdLst>
    <p:sldId id="256" r:id="rId5"/>
    <p:sldId id="293" r:id="rId6"/>
    <p:sldId id="294" r:id="rId7"/>
    <p:sldId id="257" r:id="rId8"/>
    <p:sldId id="258" r:id="rId9"/>
    <p:sldId id="260" r:id="rId10"/>
    <p:sldId id="261" r:id="rId11"/>
    <p:sldId id="295" r:id="rId12"/>
    <p:sldId id="288" r:id="rId13"/>
    <p:sldId id="262" r:id="rId14"/>
    <p:sldId id="264" r:id="rId15"/>
    <p:sldId id="267" r:id="rId16"/>
  </p:sldIdLst>
  <p:sldSz cx="18288000" cy="10287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Montserrat" panose="00000500000000000000" pitchFamily="2" charset="0"/>
      <p:regular r:id="rId19"/>
      <p:bold r:id="rId20"/>
      <p:italic r:id="rId21"/>
    </p:embeddedFont>
    <p:embeddedFont>
      <p:font typeface="Montserrat Light" panose="00000400000000000000" pitchFamily="2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6A4DED-49B4-9843-5394-E3B58894B134}" name="Arina Fedosiuk" initials="AF" userId="S::ri@juliesandlau.com::55f69df9-c8bf-4ab9-b06f-479a23b9cb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EAF2FB"/>
    <a:srgbClr val="FFFFFF"/>
    <a:srgbClr val="30818B"/>
    <a:srgbClr val="7B4FA0"/>
    <a:srgbClr val="D9534F"/>
    <a:srgbClr val="E8A33D"/>
    <a:srgbClr val="C9DCF0"/>
    <a:srgbClr val="1B2A56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1"/>
    <p:restoredTop sz="94014"/>
  </p:normalViewPr>
  <p:slideViewPr>
    <p:cSldViewPr snapToGrid="0">
      <p:cViewPr varScale="1">
        <p:scale>
          <a:sx n="68" d="100"/>
          <a:sy n="68" d="100"/>
        </p:scale>
        <p:origin x="94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DBF2F-E43C-9946-BA34-A3272F2F2D59}" type="datetimeFigureOut">
              <a:rPr lang="da-DK" smtClean="0"/>
              <a:t>20-08-2026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6161A-C502-A64A-885D-8C894C226A8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6281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6161A-C502-A64A-885D-8C894C226A88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2077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_MASTER">
    <p:bg>
      <p:bgPr>
        <a:solidFill>
          <a:srgbClr val="6670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3280EB5B-77FB-0A89-D8A2-65B2F1C0D88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189245" y="4943160"/>
            <a:ext cx="3909509" cy="400486"/>
            <a:chOff x="0" y="0"/>
            <a:chExt cx="5212678" cy="533982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D122889-4180-9F7F-20A4-593079E778DC}"/>
                </a:ext>
              </a:extLst>
            </p:cNvPr>
            <p:cNvSpPr/>
            <p:nvPr/>
          </p:nvSpPr>
          <p:spPr>
            <a:xfrm>
              <a:off x="0" y="0"/>
              <a:ext cx="5212715" cy="534035"/>
            </a:xfrm>
            <a:custGeom>
              <a:avLst/>
              <a:gdLst/>
              <a:ahLst/>
              <a:cxnLst/>
              <a:rect l="l" t="t" r="r" b="b"/>
              <a:pathLst>
                <a:path w="5212715" h="534035">
                  <a:moveTo>
                    <a:pt x="0" y="0"/>
                  </a:moveTo>
                  <a:lnTo>
                    <a:pt x="5212715" y="0"/>
                  </a:lnTo>
                  <a:lnTo>
                    <a:pt x="5212715" y="534035"/>
                  </a:lnTo>
                  <a:lnTo>
                    <a:pt x="0" y="534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4D4121-D3AA-910A-DB08-A1150F6B738F}"/>
              </a:ext>
            </a:extLst>
          </p:cNvPr>
          <p:cNvSpPr txBox="1"/>
          <p:nvPr userDrawn="1"/>
        </p:nvSpPr>
        <p:spPr>
          <a:xfrm>
            <a:off x="3773347" y="2152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K"/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F4D9E660-47CC-E196-17F5-6C070B776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08" b="36593"/>
          <a:stretch/>
        </p:blipFill>
        <p:spPr>
          <a:xfrm>
            <a:off x="4433947" y="4357671"/>
            <a:ext cx="9420105" cy="11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6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_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8AB96E42-5F2B-1E9C-DFEC-09CE8A8B4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10287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rgbClr val="4C4C4E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fr-FR" dirty="0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28DA56-A0F5-F8CE-32FC-772055896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84" b="38645"/>
          <a:stretch/>
        </p:blipFill>
        <p:spPr>
          <a:xfrm>
            <a:off x="2750571" y="9288379"/>
            <a:ext cx="3642857" cy="39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71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_TEXT ONLY">
    <p:bg>
      <p:bgPr>
        <a:solidFill>
          <a:srgbClr val="E5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>
            <a:extLst>
              <a:ext uri="{FF2B5EF4-FFF2-40B4-BE49-F238E27FC236}">
                <a16:creationId xmlns:a16="http://schemas.microsoft.com/office/drawing/2014/main" id="{6448CA7F-978D-87B8-5B36-BD827D8DA8BB}"/>
              </a:ext>
            </a:extLst>
          </p:cNvPr>
          <p:cNvSpPr/>
          <p:nvPr userDrawn="1"/>
        </p:nvSpPr>
        <p:spPr>
          <a:xfrm rot="929">
            <a:off x="340135" y="9782939"/>
            <a:ext cx="17607730" cy="0"/>
          </a:xfrm>
          <a:prstGeom prst="line">
            <a:avLst/>
          </a:prstGeom>
          <a:ln w="9525" cap="rnd">
            <a:solidFill>
              <a:srgbClr val="4C4C4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 dirty="0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402556-9EBD-ED5B-C208-148EAFCDCD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1884" r="3602" b="38645"/>
          <a:stretch/>
        </p:blipFill>
        <p:spPr>
          <a:xfrm>
            <a:off x="198995" y="9935915"/>
            <a:ext cx="1999082" cy="2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5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>
            <a:extLst>
              <a:ext uri="{FF2B5EF4-FFF2-40B4-BE49-F238E27FC236}">
                <a16:creationId xmlns:a16="http://schemas.microsoft.com/office/drawing/2014/main" id="{FF6759A0-8910-88F8-E84F-9F353BEEE7E9}"/>
              </a:ext>
            </a:extLst>
          </p:cNvPr>
          <p:cNvSpPr/>
          <p:nvPr userDrawn="1"/>
        </p:nvSpPr>
        <p:spPr>
          <a:xfrm rot="929">
            <a:off x="340135" y="9782939"/>
            <a:ext cx="17607730" cy="0"/>
          </a:xfrm>
          <a:prstGeom prst="line">
            <a:avLst/>
          </a:prstGeom>
          <a:ln w="9525" cap="rnd">
            <a:solidFill>
              <a:srgbClr val="4C4C4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 dirty="0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7D2CFA-22C6-FCB4-D691-1B92B6A0D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1884" r="3602" b="38645"/>
          <a:stretch/>
        </p:blipFill>
        <p:spPr>
          <a:xfrm>
            <a:off x="198995" y="9935915"/>
            <a:ext cx="1999082" cy="2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_MASTER">
    <p:bg>
      <p:bgPr>
        <a:solidFill>
          <a:srgbClr val="6670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8D010464-878A-A206-27F9-169B41102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08" b="36593"/>
          <a:stretch/>
        </p:blipFill>
        <p:spPr>
          <a:xfrm>
            <a:off x="7169992" y="9306321"/>
            <a:ext cx="3948015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6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39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168FD9A-EEB6-EE29-4DFA-2E3BBA11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F221047-C19F-6ABE-4D64-042336C12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8693759-ADC3-23F0-2C4F-85C363CBB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868686"/>
                </a:solidFill>
                <a:latin typeface="Montserrat" pitchFamily="2" charset="77"/>
              </a:defRPr>
            </a:lvl1pPr>
          </a:lstStyle>
          <a:p>
            <a:fld id="{E366E32D-50ED-E74B-8F2B-7DA5DBFC5B5F}" type="datetimeFigureOut">
              <a:rPr lang="da-DK" smtClean="0"/>
              <a:pPr/>
              <a:t>20-08-2026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CC58240-468B-C0CB-AF58-6D50D679D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868686"/>
                </a:solidFill>
                <a:latin typeface="Montserrat" pitchFamily="2" charset="77"/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0B4B51C-E447-3595-5840-156A1F8DA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68686"/>
                </a:solidFill>
                <a:latin typeface="Montserrat" pitchFamily="2" charset="77"/>
              </a:defRPr>
            </a:lvl1pPr>
          </a:lstStyle>
          <a:p>
            <a:fld id="{EFCDB80A-B584-3746-B5BD-39E83A1A55CF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544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6" r:id="rId1"/>
    <p:sldLayoutId id="2147484676" r:id="rId2"/>
    <p:sldLayoutId id="2147484670" r:id="rId3"/>
    <p:sldLayoutId id="2147484672" r:id="rId4"/>
    <p:sldLayoutId id="2147484675" r:id="rId5"/>
    <p:sldLayoutId id="2147484677" r:id="rId6"/>
    <p:sldLayoutId id="214748467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868686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868686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868686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868686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868686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868686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70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589315" y="9542385"/>
            <a:ext cx="3109369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75" dirty="0">
                <a:solidFill>
                  <a:srgbClr val="FFFFFF"/>
                </a:solidFill>
                <a:latin typeface="Montserrat Light" pitchFamily="2" charset="77"/>
                <a:ea typeface="Montserrat"/>
                <a:cs typeface="Montserrat"/>
                <a:sym typeface="Montserrat"/>
              </a:rPr>
              <a:t>PRESENTATION NAME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3300" b="1" dirty="0">
                <a:solidFill>
                  <a:srgbClr val="1B2A56"/>
                </a:solidFill>
                <a:latin typeface="Montserrat" panose="00000500000000000000" pitchFamily="2" charset="0"/>
                <a:ea typeface="Arial Black" pitchFamily="34" charset="-122"/>
                <a:cs typeface="Arial Black" pitchFamily="34" charset="-120"/>
              </a:rPr>
              <a:t>JEWELRY SKILL ID</a:t>
            </a:r>
            <a:endParaRPr lang="en-US" sz="3300" dirty="0">
              <a:latin typeface="Montserrat" panose="00000500000000000000" pitchFamily="2" charset="0"/>
            </a:endParaRPr>
          </a:p>
          <a:p>
            <a:pPr>
              <a:lnSpc>
                <a:spcPct val="102000"/>
              </a:lnSpc>
            </a:pPr>
            <a:r>
              <a:rPr lang="en-US" sz="3300" b="1" dirty="0">
                <a:solidFill>
                  <a:srgbClr val="1B2A56"/>
                </a:solidFill>
                <a:latin typeface="Montserrat" panose="00000500000000000000" pitchFamily="2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33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127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E75B6"/>
                </a:solidFill>
                <a:latin typeface="Montserrat" panose="00000500000000000000" pitchFamily="2" charset="0"/>
              </a:rPr>
              <a:t>7 PHASES: </a:t>
            </a:r>
            <a:r>
              <a:rPr lang="en-US" sz="2100" dirty="0">
                <a:solidFill>
                  <a:srgbClr val="2E75B6"/>
                </a:solidFill>
                <a:latin typeface="Montserrat" panose="00000500000000000000" pitchFamily="2" charset="0"/>
              </a:rPr>
              <a:t>From Pilot </a:t>
            </a:r>
            <a:r>
              <a:rPr lang="en-US" sz="2100">
                <a:solidFill>
                  <a:srgbClr val="2E75B6"/>
                </a:solidFill>
                <a:latin typeface="Montserrat" panose="00000500000000000000" pitchFamily="2" charset="0"/>
              </a:rPr>
              <a:t>to Dashboard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dirty="0">
                <a:solidFill>
                  <a:srgbClr val="595959"/>
                </a:solidFill>
                <a:latin typeface="Montserrat" panose="00000500000000000000" pitchFamily="2" charset="0"/>
              </a:rPr>
              <a:t>From Data to Intelligence, From Skill to Excellence</a:t>
            </a:r>
            <a:endParaRPr lang="en-US" sz="1875" dirty="0">
              <a:latin typeface="Montserrat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111228" y="246888"/>
            <a:ext cx="5760720" cy="1906524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C9DCF0"/>
            </a:solidFill>
            <a:prstDash val="solid"/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264572" y="387822"/>
            <a:ext cx="572298" cy="57229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316968" y="438912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Montserrat" panose="00000500000000000000" pitchFamily="2" charset="0"/>
              </a:rPr>
              <a:t>👁</a:t>
            </a:r>
            <a:endParaRPr lang="en-US" sz="4000" dirty="0">
              <a:latin typeface="Montserrat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956213" y="466344"/>
            <a:ext cx="411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2A56"/>
                </a:solidFill>
                <a:latin typeface="Montserrat" panose="00000500000000000000" pitchFamily="2" charset="0"/>
              </a:rPr>
              <a:t>OUR VISION</a:t>
            </a:r>
            <a:endParaRPr lang="en-US" sz="2800" dirty="0">
              <a:latin typeface="Montserrat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264572" y="1042416"/>
            <a:ext cx="547188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</a:rPr>
              <a:t>Build a transparent, data-driven and explainable system to evaluate worker skills, understand semi complexity, and optimize assignment for maximum productivity and quality.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61872" y="2304288"/>
            <a:ext cx="521208" cy="52120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61872" y="23042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935224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DATA COLLECT &amp;</a:t>
            </a:r>
            <a:endParaRPr lang="en-US" sz="1575" dirty="0">
              <a:latin typeface="Montserrat" panose="00000500000000000000" pitchFamily="2" charset="0"/>
            </a:endParaRPr>
          </a:p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FOUNDATION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8336" y="4402836"/>
            <a:ext cx="198882" cy="246888"/>
          </a:xfrm>
          <a:prstGeom prst="rightArrow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" y="5225796"/>
            <a:ext cx="2276856" cy="18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Data audit &amp; cleaning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Benchmark candidate identification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Initial parameter setup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Data test &amp; validation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2474" y="2304288"/>
            <a:ext cx="521208" cy="521208"/>
          </a:xfrm>
          <a:prstGeom prst="ellipse">
            <a:avLst/>
          </a:prstGeom>
          <a:solidFill>
            <a:srgbClr val="2CA58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92474" y="23042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14650" y="2935224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BENCHMARK-BASED</a:t>
            </a:r>
            <a:endParaRPr lang="en-US" sz="1575" dirty="0">
              <a:latin typeface="Montserrat" panose="00000500000000000000" pitchFamily="2" charset="0"/>
            </a:endParaRPr>
          </a:p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SUGGEST SKILL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18938" y="4402836"/>
            <a:ext cx="198882" cy="246888"/>
          </a:xfrm>
          <a:prstGeom prst="rightArrow">
            <a:avLst/>
          </a:prstGeom>
          <a:solidFill>
            <a:srgbClr val="2CA58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914650" y="5225796"/>
            <a:ext cx="2276856" cy="18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Collect production records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Select benchmark worker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Calculate suggest skill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Apply business factors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Compute confidence score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Suggest Worker Skill (v1)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23076" y="2304288"/>
            <a:ext cx="521208" cy="521208"/>
          </a:xfrm>
          <a:prstGeom prst="ellipse">
            <a:avLst/>
          </a:prstGeom>
          <a:solidFill>
            <a:srgbClr val="6BA83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23076" y="23042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45252" y="2935224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CERTIFIED SKILL</a:t>
            </a:r>
            <a:endParaRPr lang="en-US" sz="1575" dirty="0">
              <a:latin typeface="Montserrat" panose="00000500000000000000" pitchFamily="2" charset="0"/>
            </a:endParaRPr>
          </a:p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(PLANNER REVIEW)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749540" y="4402836"/>
            <a:ext cx="198882" cy="246888"/>
          </a:xfrm>
          <a:prstGeom prst="rightArrow">
            <a:avLst/>
          </a:prstGeom>
          <a:solidFill>
            <a:srgbClr val="6BA83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45252" y="5225795"/>
            <a:ext cx="2276856" cy="187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Planner reviews &amp; adjusts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Approve or modify skill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Record adjustment reason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Store Certified Skill (v1)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Benchmark maintenance (quarterly review)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853678" y="2304288"/>
            <a:ext cx="521208" cy="521208"/>
          </a:xfrm>
          <a:prstGeom prst="ellipse">
            <a:avLst/>
          </a:prstGeom>
          <a:solidFill>
            <a:srgbClr val="ED9A2E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853678" y="23042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75854" y="2935224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CAPABILITY MODEL &amp; SUGGESTED COMPLEXITY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0280142" y="4402836"/>
            <a:ext cx="198882" cy="246888"/>
          </a:xfrm>
          <a:prstGeom prst="rightArrow">
            <a:avLst/>
          </a:prstGeom>
          <a:solidFill>
            <a:srgbClr val="ED9A2E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5627096" y="5225795"/>
            <a:ext cx="2276856" cy="18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Skill trend analysis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Benchmark gap analysis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Reorder comparison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Low-confidence queue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Training suggestions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Insights &amp; visibility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1384280" y="2304288"/>
            <a:ext cx="521208" cy="5212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1384280" y="23042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506456" y="2935224"/>
            <a:ext cx="233041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TECHNICAL COMPLEXITY</a:t>
            </a:r>
            <a:endParaRPr lang="en-US" sz="1575" dirty="0">
              <a:latin typeface="Montserrat" panose="00000500000000000000" pitchFamily="2" charset="0"/>
            </a:endParaRPr>
          </a:p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(QUALITY-BASED)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810744" y="4402836"/>
            <a:ext cx="198882" cy="246888"/>
          </a:xfrm>
          <a:prstGeom prst="rightArrow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932070" y="5225796"/>
            <a:ext cx="2276856" cy="194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Build capability model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Separate worker effect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Calculate Semi production effort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Suggest complexity (rule-based)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Manager review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Approved Complexity (v1)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3914882" y="2304288"/>
            <a:ext cx="521208" cy="521208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3914882" y="23042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6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3037058" y="2935224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INTELLIGENT</a:t>
            </a:r>
            <a:endParaRPr lang="en-US" sz="1575" dirty="0">
              <a:latin typeface="Montserrat" panose="00000500000000000000" pitchFamily="2" charset="0"/>
            </a:endParaRPr>
          </a:p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ASSIGNMENT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5341346" y="4402836"/>
            <a:ext cx="198882" cy="246888"/>
          </a:xfrm>
          <a:prstGeom prst="rightArrow">
            <a:avLst/>
          </a:prstGeom>
          <a:solidFill>
            <a:srgbClr val="7B4FA0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462672" y="5225797"/>
            <a:ext cx="2276856" cy="198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Collect QC &amp; rework data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Compute quality metrics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Analyze learning curve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Calculate technical complexity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Validate &amp; calibrate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Publish model &amp; version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6445484" y="2304288"/>
            <a:ext cx="521208" cy="521208"/>
          </a:xfrm>
          <a:prstGeom prst="ellipse">
            <a:avLst/>
          </a:prstGeom>
          <a:solidFill>
            <a:srgbClr val="30818B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6445484" y="23042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7</a:t>
            </a:r>
            <a:endParaRPr lang="en-US" sz="2100" dirty="0">
              <a:latin typeface="Montserrat" panose="00000500000000000000" pitchFamily="2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5567660" y="2935224"/>
            <a:ext cx="2276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DECISION SUPPORT</a:t>
            </a:r>
          </a:p>
          <a:p>
            <a:pPr algn="ctr"/>
            <a:r>
              <a:rPr lang="en-US" sz="1575" b="1" dirty="0">
                <a:solidFill>
                  <a:srgbClr val="1B2A56"/>
                </a:solidFill>
                <a:latin typeface="Montserrat" panose="00000500000000000000" pitchFamily="2" charset="0"/>
              </a:rPr>
              <a:t>DASHBOARD</a:t>
            </a:r>
            <a:endParaRPr lang="en-US" sz="1575" dirty="0">
              <a:latin typeface="Montserrat" panose="00000500000000000000" pitchFamily="2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2993274" y="5225796"/>
            <a:ext cx="2276856" cy="185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Build assignment engine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Optimize worker-semi match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Capacity &amp; workload balance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Risk &amp; expected time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Recommendation &amp; explanation</a:t>
            </a:r>
            <a:endParaRPr lang="en-US" sz="1100" dirty="0">
              <a:latin typeface="Montserrat" panose="00000500000000000000" pitchFamily="2" charset="0"/>
            </a:endParaRPr>
          </a:p>
          <a:p>
            <a:pPr marL="190500" indent="-1905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Montserrat" panose="00000500000000000000" pitchFamily="2" charset="0"/>
              </a:rPr>
              <a:t>Monitor, learn &amp; improve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70662" y="7201604"/>
            <a:ext cx="5637276" cy="2496312"/>
          </a:xfrm>
          <a:prstGeom prst="roundRect">
            <a:avLst>
              <a:gd name="adj" fmla="val 3297"/>
            </a:avLst>
          </a:prstGeom>
          <a:solidFill>
            <a:srgbClr val="FBFBFD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39826" y="7311332"/>
            <a:ext cx="5225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B2A56"/>
                </a:solidFill>
                <a:latin typeface="Montserrat" panose="00000500000000000000" pitchFamily="2" charset="0"/>
              </a:rPr>
              <a:t>CORE PRINCIPLES</a:t>
            </a:r>
            <a:endParaRPr lang="en-US" sz="1650" dirty="0">
              <a:latin typeface="Montserrat" panose="00000500000000000000" pitchFamily="2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639827" y="8742368"/>
            <a:ext cx="1045160" cy="79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Planner is the</a:t>
            </a:r>
            <a:endParaRPr lang="en-US" sz="1020" dirty="0">
              <a:latin typeface="Montserrat" panose="00000500000000000000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Final Decision Maker</a:t>
            </a:r>
            <a:endParaRPr lang="en-US" sz="1020" dirty="0">
              <a:latin typeface="Montserrat" panose="00000500000000000000" pitchFamily="2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684986" y="8742368"/>
            <a:ext cx="1045160" cy="79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Explainability over</a:t>
            </a:r>
            <a:endParaRPr lang="en-US" sz="1020" dirty="0">
              <a:latin typeface="Montserrat" panose="00000500000000000000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Production </a:t>
            </a:r>
          </a:p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Black-box</a:t>
            </a:r>
            <a:endParaRPr lang="en-US" sz="1020" dirty="0">
              <a:latin typeface="Montserrat" panose="00000500000000000000" pitchFamily="2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2730146" y="8742368"/>
            <a:ext cx="1045160" cy="79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Business Rules First,</a:t>
            </a:r>
            <a:endParaRPr lang="en-US" sz="1020" dirty="0">
              <a:latin typeface="Montserrat" panose="00000500000000000000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Machine Learning Later</a:t>
            </a:r>
            <a:endParaRPr lang="en-US" sz="1020" dirty="0">
              <a:latin typeface="Montserrat" panose="00000500000000000000" pitchFamily="2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3775304" y="8742368"/>
            <a:ext cx="1045160" cy="79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Benchmark is</a:t>
            </a:r>
            <a:endParaRPr lang="en-US" sz="1020" dirty="0">
              <a:latin typeface="Montserrat" panose="00000500000000000000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Bootstrap, not</a:t>
            </a:r>
            <a:endParaRPr lang="en-US" sz="1020" dirty="0">
              <a:latin typeface="Montserrat" panose="00000500000000000000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Destination</a:t>
            </a:r>
            <a:endParaRPr lang="en-US" sz="1020" dirty="0">
              <a:latin typeface="Montserrat" panose="00000500000000000000" pitchFamily="2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4976516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5082439" y="77776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950" dirty="0">
              <a:latin typeface="Montserrat" panose="00000500000000000000" pitchFamily="2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820463" y="8742368"/>
            <a:ext cx="1045160" cy="79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Continuous Calibration &amp;</a:t>
            </a:r>
            <a:endParaRPr lang="en-US" sz="1020" dirty="0">
              <a:latin typeface="Montserrat" panose="00000500000000000000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020" dirty="0">
                <a:solidFill>
                  <a:srgbClr val="3A3A3A"/>
                </a:solidFill>
                <a:latin typeface="Montserrat" panose="00000500000000000000" pitchFamily="2" charset="0"/>
              </a:rPr>
              <a:t>Improvement</a:t>
            </a:r>
            <a:endParaRPr lang="en-US" sz="1020" dirty="0">
              <a:latin typeface="Montserrat" panose="00000500000000000000" pitchFamily="2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350254" y="7201604"/>
            <a:ext cx="5637276" cy="2509897"/>
          </a:xfrm>
          <a:prstGeom prst="roundRect">
            <a:avLst>
              <a:gd name="adj" fmla="val 3297"/>
            </a:avLst>
          </a:prstGeom>
          <a:solidFill>
            <a:srgbClr val="FBFBFD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 sz="2700" dirty="0">
              <a:latin typeface="Montserrat" panose="00000500000000000000" pitchFamily="2" charset="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6555994" y="7324917"/>
            <a:ext cx="5225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B2A56"/>
                </a:solidFill>
                <a:latin typeface="Montserrat" panose="00000500000000000000" pitchFamily="2" charset="0"/>
              </a:rPr>
              <a:t>ROADMAP EVOLUTION</a:t>
            </a:r>
            <a:endParaRPr lang="en-US" sz="1650" dirty="0">
              <a:latin typeface="Montserrat" panose="00000500000000000000" pitchFamily="2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6929265" y="9351837"/>
            <a:ext cx="4479254" cy="0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6686949" y="9214677"/>
            <a:ext cx="274320" cy="27432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6432551" y="8597325"/>
            <a:ext cx="803449" cy="56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Business</a:t>
            </a:r>
            <a:endParaRPr lang="en-US" sz="870" dirty="0">
              <a:latin typeface="Montserrat" panose="00000500000000000000" pitchFamily="2" charset="0"/>
            </a:endParaRPr>
          </a:p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Rules</a:t>
            </a:r>
            <a:endParaRPr lang="en-US" sz="870" dirty="0">
              <a:latin typeface="Montserrat" panose="00000500000000000000" pitchFamily="2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7484726" y="9214677"/>
            <a:ext cx="274320" cy="274320"/>
          </a:xfrm>
          <a:prstGeom prst="ellipse">
            <a:avLst/>
          </a:prstGeom>
          <a:solidFill>
            <a:srgbClr val="2CA58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7179093" y="8611171"/>
            <a:ext cx="993431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Benchmark</a:t>
            </a:r>
            <a:endParaRPr lang="en-US" sz="870" dirty="0">
              <a:latin typeface="Montserrat" panose="00000500000000000000" pitchFamily="2" charset="0"/>
            </a:endParaRPr>
          </a:p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(Bootstrap)</a:t>
            </a:r>
            <a:endParaRPr lang="en-US" sz="870" dirty="0">
              <a:latin typeface="Montserrat" panose="00000500000000000000" pitchFamily="2" charset="0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8285190" y="9214677"/>
            <a:ext cx="274320" cy="274320"/>
          </a:xfrm>
          <a:prstGeom prst="ellipse">
            <a:avLst/>
          </a:prstGeom>
          <a:solidFill>
            <a:srgbClr val="6BA83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7925636" y="8611171"/>
            <a:ext cx="993431" cy="548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Certified</a:t>
            </a:r>
            <a:endParaRPr lang="en-US" sz="870" dirty="0">
              <a:latin typeface="Montserrat" panose="00000500000000000000" pitchFamily="2" charset="0"/>
            </a:endParaRPr>
          </a:p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Skill</a:t>
            </a:r>
            <a:endParaRPr lang="en-US" sz="870" dirty="0">
              <a:latin typeface="Montserrat" panose="00000500000000000000" pitchFamily="2" charset="0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9085654" y="9214677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8672178" y="8597323"/>
            <a:ext cx="993431" cy="562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Technical</a:t>
            </a:r>
          </a:p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Intelligence</a:t>
            </a:r>
            <a:endParaRPr lang="en-US" sz="870" dirty="0">
              <a:latin typeface="Montserrat" panose="00000500000000000000" pitchFamily="2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9877226" y="9214677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9608702" y="8597323"/>
            <a:ext cx="671440" cy="562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System</a:t>
            </a:r>
            <a:endParaRPr lang="en-US" sz="870" dirty="0">
              <a:latin typeface="Montserrat" panose="00000500000000000000" pitchFamily="2" charset="0"/>
            </a:endParaRPr>
          </a:p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Recommendation</a:t>
            </a:r>
            <a:endParaRPr lang="en-US" sz="870" dirty="0">
              <a:latin typeface="Montserrat" panose="00000500000000000000" pitchFamily="2" charset="0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10678143" y="9208736"/>
            <a:ext cx="274320" cy="274320"/>
          </a:xfrm>
          <a:prstGeom prst="ellipse">
            <a:avLst/>
          </a:prstGeom>
          <a:solidFill>
            <a:srgbClr val="7B4FA0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0412149" y="8611171"/>
            <a:ext cx="694001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Self-Learning</a:t>
            </a:r>
            <a:endParaRPr lang="en-US" sz="870" dirty="0">
              <a:latin typeface="Montserrat" panose="00000500000000000000" pitchFamily="2" charset="0"/>
            </a:endParaRPr>
          </a:p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System</a:t>
            </a:r>
            <a:endParaRPr lang="en-US" sz="870" dirty="0">
              <a:latin typeface="Montserrat" panose="00000500000000000000" pitchFamily="2" charset="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11469715" y="9214677"/>
            <a:ext cx="274320" cy="274320"/>
          </a:xfrm>
          <a:prstGeom prst="ellipse">
            <a:avLst/>
          </a:prstGeom>
          <a:solidFill>
            <a:srgbClr val="30818B"/>
          </a:solidFill>
          <a:ln/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11211234" y="8611171"/>
            <a:ext cx="694001" cy="548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Production</a:t>
            </a:r>
          </a:p>
          <a:p>
            <a:pPr algn="ctr">
              <a:lnSpc>
                <a:spcPct val="95000"/>
              </a:lnSpc>
            </a:pPr>
            <a:r>
              <a:rPr lang="en-US" sz="870" b="1" dirty="0">
                <a:solidFill>
                  <a:srgbClr val="333333"/>
                </a:solidFill>
                <a:latin typeface="Montserrat" panose="00000500000000000000" pitchFamily="2" charset="0"/>
              </a:rPr>
              <a:t>Intelligence</a:t>
            </a:r>
            <a:endParaRPr lang="en-US" sz="870" dirty="0">
              <a:latin typeface="Montserrat" panose="00000500000000000000" pitchFamily="2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12266676" y="7201604"/>
            <a:ext cx="5637276" cy="2509897"/>
          </a:xfrm>
          <a:prstGeom prst="roundRect">
            <a:avLst>
              <a:gd name="adj" fmla="val 3297"/>
            </a:avLst>
          </a:prstGeom>
          <a:solidFill>
            <a:srgbClr val="FBFBFD"/>
          </a:solidFill>
          <a:ln w="1270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12472416" y="7359493"/>
            <a:ext cx="5225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B2A56"/>
                </a:solidFill>
                <a:latin typeface="Montserrat" panose="00000500000000000000" pitchFamily="2" charset="0"/>
              </a:rPr>
              <a:t>BUSINESS VALUE &amp; SUCCESS METRICS</a:t>
            </a:r>
            <a:endParaRPr lang="en-US" sz="1650" dirty="0">
              <a:latin typeface="Montserrat" panose="00000500000000000000" pitchFamily="2" charset="0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12431268" y="7798405"/>
            <a:ext cx="2578608" cy="1810512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12540996" y="7880701"/>
            <a:ext cx="2372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B2A56"/>
                </a:solidFill>
                <a:latin typeface="Montserrat" panose="00000500000000000000" pitchFamily="2" charset="0"/>
              </a:rPr>
              <a:t>BUSINESS VALUE</a:t>
            </a:r>
            <a:endParaRPr lang="en-US" sz="1125" dirty="0">
              <a:latin typeface="Montserrat" panose="00000500000000000000" pitchFamily="2" charset="0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12540996" y="8182453"/>
            <a:ext cx="230428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Montserrat" panose="00000500000000000000" pitchFamily="2" charset="0"/>
              </a:rPr>
              <a:t>Higher Productivity</a:t>
            </a:r>
            <a:endParaRPr lang="en-US" sz="105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Montserrat" panose="00000500000000000000" pitchFamily="2" charset="0"/>
              </a:rPr>
              <a:t>Consistent Quality</a:t>
            </a:r>
            <a:endParaRPr lang="en-US" sz="105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Montserrat" panose="00000500000000000000" pitchFamily="2" charset="0"/>
              </a:rPr>
              <a:t>Cost Optimization</a:t>
            </a:r>
            <a:endParaRPr lang="en-US" sz="105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Montserrat" panose="00000500000000000000" pitchFamily="2" charset="0"/>
              </a:rPr>
              <a:t>People Development</a:t>
            </a:r>
            <a:endParaRPr lang="en-US" sz="105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Montserrat" panose="00000500000000000000" pitchFamily="2" charset="0"/>
              </a:rPr>
              <a:t>Future-Ready</a:t>
            </a:r>
            <a:endParaRPr lang="en-US" sz="1050" dirty="0">
              <a:latin typeface="Montserrat" panose="00000500000000000000" pitchFamily="2" charset="0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15174468" y="7798405"/>
            <a:ext cx="2578608" cy="1810512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15284196" y="7880701"/>
            <a:ext cx="2372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B2A56"/>
                </a:solidFill>
                <a:latin typeface="Montserrat" panose="00000500000000000000" pitchFamily="2" charset="0"/>
              </a:rPr>
              <a:t>SUCCESS METRICS</a:t>
            </a:r>
            <a:endParaRPr lang="en-US" sz="1125" dirty="0">
              <a:latin typeface="Montserrat" panose="00000500000000000000" pitchFamily="2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15284196" y="8182453"/>
            <a:ext cx="23591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225"/>
              </a:spcAft>
              <a:buSzPct val="100000"/>
              <a:buChar char="✓"/>
            </a:pPr>
            <a:r>
              <a:rPr lang="en-US" sz="990" dirty="0">
                <a:solidFill>
                  <a:srgbClr val="2E7D32"/>
                </a:solidFill>
                <a:latin typeface="Montserrat" panose="00000500000000000000" pitchFamily="2" charset="0"/>
              </a:rPr>
              <a:t>Planner Adoption Rate</a:t>
            </a:r>
            <a:endParaRPr lang="en-US" sz="99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05000"/>
              </a:lnSpc>
              <a:spcAft>
                <a:spcPts val="225"/>
              </a:spcAft>
              <a:buSzPct val="100000"/>
              <a:buChar char="✓"/>
            </a:pPr>
            <a:r>
              <a:rPr lang="en-US" sz="990" dirty="0">
                <a:solidFill>
                  <a:srgbClr val="2E7D32"/>
                </a:solidFill>
                <a:latin typeface="Montserrat" panose="00000500000000000000" pitchFamily="2" charset="0"/>
              </a:rPr>
              <a:t>Average Override Rate decrease</a:t>
            </a:r>
            <a:endParaRPr lang="en-US" sz="99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05000"/>
              </a:lnSpc>
              <a:spcAft>
                <a:spcPts val="225"/>
              </a:spcAft>
              <a:buSzPct val="100000"/>
              <a:buChar char="✓"/>
            </a:pPr>
            <a:r>
              <a:rPr lang="en-US" sz="990" dirty="0">
                <a:solidFill>
                  <a:srgbClr val="2E7D32"/>
                </a:solidFill>
                <a:latin typeface="Montserrat" panose="00000500000000000000" pitchFamily="2" charset="0"/>
              </a:rPr>
              <a:t>Productivity Improvement</a:t>
            </a:r>
            <a:endParaRPr lang="en-US" sz="99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05000"/>
              </a:lnSpc>
              <a:spcAft>
                <a:spcPts val="225"/>
              </a:spcAft>
              <a:buSzPct val="100000"/>
              <a:buChar char="✓"/>
            </a:pPr>
            <a:r>
              <a:rPr lang="en-US" sz="990" dirty="0">
                <a:solidFill>
                  <a:srgbClr val="2E7D32"/>
                </a:solidFill>
                <a:latin typeface="Montserrat" panose="00000500000000000000" pitchFamily="2" charset="0"/>
              </a:rPr>
              <a:t>Reduction in Rework</a:t>
            </a:r>
            <a:endParaRPr lang="en-US" sz="99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05000"/>
              </a:lnSpc>
              <a:spcAft>
                <a:spcPts val="225"/>
              </a:spcAft>
              <a:buSzPct val="100000"/>
              <a:buChar char="✓"/>
            </a:pPr>
            <a:r>
              <a:rPr lang="en-US" sz="990" dirty="0">
                <a:solidFill>
                  <a:srgbClr val="2E7D32"/>
                </a:solidFill>
                <a:latin typeface="Montserrat" panose="00000500000000000000" pitchFamily="2" charset="0"/>
              </a:rPr>
              <a:t>Better Decision Support Visibility</a:t>
            </a:r>
            <a:endParaRPr lang="en-US" sz="990" dirty="0">
              <a:latin typeface="Montserrat" panose="00000500000000000000" pitchFamily="2" charset="0"/>
            </a:endParaRPr>
          </a:p>
          <a:p>
            <a:pPr marL="152400" indent="-152400">
              <a:lnSpc>
                <a:spcPct val="105000"/>
              </a:lnSpc>
              <a:spcAft>
                <a:spcPts val="225"/>
              </a:spcAft>
              <a:buSzPct val="100000"/>
              <a:buChar char="✓"/>
            </a:pPr>
            <a:r>
              <a:rPr lang="en-US" sz="990" dirty="0">
                <a:solidFill>
                  <a:srgbClr val="2E7D32"/>
                </a:solidFill>
                <a:latin typeface="Montserrat" panose="00000500000000000000" pitchFamily="2" charset="0"/>
              </a:rPr>
              <a:t>Continuous Learning &amp; Improvement</a:t>
            </a:r>
            <a:endParaRPr lang="en-US" sz="990" dirty="0">
              <a:latin typeface="Montserrat" panose="00000500000000000000" pitchFamily="2" charset="0"/>
            </a:endParaRP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18A0CD23-454D-41C5-163C-D01786BD4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14" y="3487427"/>
            <a:ext cx="2200000" cy="1533333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746BE272-0041-1F7F-E1E1-F4F31EEA3E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56" y="3701481"/>
            <a:ext cx="2180952" cy="1457143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CE296235-C151-12B6-FD4E-18448868D7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799" y="3613219"/>
            <a:ext cx="2257143" cy="1571429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E537DEA8-AC14-C5C1-BDCC-F326F18113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92" y="3554093"/>
            <a:ext cx="2028571" cy="1466667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55730471-2934-B5DD-5FEC-FF1E68DE74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1057" y="3589682"/>
            <a:ext cx="2142857" cy="161904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7E589348-7D12-E4AE-AC1E-42DB73E732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444" y="3676833"/>
            <a:ext cx="2038095" cy="1466667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1F249012-D2E4-0EE3-A04B-47B22E2572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386" y="7838393"/>
            <a:ext cx="695238" cy="638095"/>
          </a:xfrm>
          <a:prstGeom prst="rect">
            <a:avLst/>
          </a:prstGeom>
        </p:spPr>
      </p:pic>
      <p:sp>
        <p:nvSpPr>
          <p:cNvPr id="179" name="Shape 84">
            <a:extLst>
              <a:ext uri="{FF2B5EF4-FFF2-40B4-BE49-F238E27FC236}">
                <a16:creationId xmlns:a16="http://schemas.microsoft.com/office/drawing/2014/main" id="{78A44D08-C926-7EE1-E04F-6CE824E5A0EF}"/>
              </a:ext>
            </a:extLst>
          </p:cNvPr>
          <p:cNvSpPr/>
          <p:nvPr/>
        </p:nvSpPr>
        <p:spPr>
          <a:xfrm>
            <a:off x="2887218" y="7848964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77" name="Shape 84">
            <a:extLst>
              <a:ext uri="{FF2B5EF4-FFF2-40B4-BE49-F238E27FC236}">
                <a16:creationId xmlns:a16="http://schemas.microsoft.com/office/drawing/2014/main" id="{ACF9879F-DD43-0547-AC71-F525B914CE60}"/>
              </a:ext>
            </a:extLst>
          </p:cNvPr>
          <p:cNvSpPr/>
          <p:nvPr/>
        </p:nvSpPr>
        <p:spPr>
          <a:xfrm>
            <a:off x="3964395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81" name="Shape 84">
            <a:extLst>
              <a:ext uri="{FF2B5EF4-FFF2-40B4-BE49-F238E27FC236}">
                <a16:creationId xmlns:a16="http://schemas.microsoft.com/office/drawing/2014/main" id="{53A6D27B-FB7B-8E70-EC26-9BC9143A5124}"/>
              </a:ext>
            </a:extLst>
          </p:cNvPr>
          <p:cNvSpPr/>
          <p:nvPr/>
        </p:nvSpPr>
        <p:spPr>
          <a:xfrm>
            <a:off x="1831078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83" name="Shape 84">
            <a:extLst>
              <a:ext uri="{FF2B5EF4-FFF2-40B4-BE49-F238E27FC236}">
                <a16:creationId xmlns:a16="http://schemas.microsoft.com/office/drawing/2014/main" id="{EC0428BD-5341-10F9-018F-2CCF38CB21D8}"/>
              </a:ext>
            </a:extLst>
          </p:cNvPr>
          <p:cNvSpPr/>
          <p:nvPr/>
        </p:nvSpPr>
        <p:spPr>
          <a:xfrm>
            <a:off x="828918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A8998CCD-1DE0-CF4E-7370-F3CE0F325B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229"/>
          <a:stretch>
            <a:fillRect/>
          </a:stretch>
        </p:blipFill>
        <p:spPr>
          <a:xfrm>
            <a:off x="676692" y="7791524"/>
            <a:ext cx="971429" cy="721735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68B8453-4035-B2AA-BC2A-885B93C035C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86" y="7852729"/>
            <a:ext cx="714286" cy="666667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AD9A0BEE-2FB6-B004-17BF-6C0FB316D7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77" y="7806405"/>
            <a:ext cx="714286" cy="714286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22C49EE6-C52C-620A-4A66-A2D7516CEE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907" y="7863483"/>
            <a:ext cx="971429" cy="657143"/>
          </a:xfrm>
          <a:prstGeom prst="rect">
            <a:avLst/>
          </a:prstGeom>
        </p:spPr>
      </p:pic>
      <p:sp>
        <p:nvSpPr>
          <p:cNvPr id="191" name="Shape 84">
            <a:extLst>
              <a:ext uri="{FF2B5EF4-FFF2-40B4-BE49-F238E27FC236}">
                <a16:creationId xmlns:a16="http://schemas.microsoft.com/office/drawing/2014/main" id="{A765007A-DF2C-CDD6-D871-A7CD63ACCD70}"/>
              </a:ext>
            </a:extLst>
          </p:cNvPr>
          <p:cNvSpPr/>
          <p:nvPr/>
        </p:nvSpPr>
        <p:spPr>
          <a:xfrm>
            <a:off x="6476188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93" name="Shape 84">
            <a:extLst>
              <a:ext uri="{FF2B5EF4-FFF2-40B4-BE49-F238E27FC236}">
                <a16:creationId xmlns:a16="http://schemas.microsoft.com/office/drawing/2014/main" id="{A2D3B611-2D99-3547-A671-C82D3C19C906}"/>
              </a:ext>
            </a:extLst>
          </p:cNvPr>
          <p:cNvSpPr/>
          <p:nvPr/>
        </p:nvSpPr>
        <p:spPr>
          <a:xfrm>
            <a:off x="7266199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95" name="Shape 84">
            <a:extLst>
              <a:ext uri="{FF2B5EF4-FFF2-40B4-BE49-F238E27FC236}">
                <a16:creationId xmlns:a16="http://schemas.microsoft.com/office/drawing/2014/main" id="{0E245F7C-0E36-077A-11C7-FFCC71BC183E}"/>
              </a:ext>
            </a:extLst>
          </p:cNvPr>
          <p:cNvSpPr/>
          <p:nvPr/>
        </p:nvSpPr>
        <p:spPr>
          <a:xfrm>
            <a:off x="8056210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199" name="Shape 84">
            <a:extLst>
              <a:ext uri="{FF2B5EF4-FFF2-40B4-BE49-F238E27FC236}">
                <a16:creationId xmlns:a16="http://schemas.microsoft.com/office/drawing/2014/main" id="{396B428F-B4E4-6EFB-235C-CCEB46D7762A}"/>
              </a:ext>
            </a:extLst>
          </p:cNvPr>
          <p:cNvSpPr/>
          <p:nvPr/>
        </p:nvSpPr>
        <p:spPr>
          <a:xfrm>
            <a:off x="9638455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201" name="Shape 84">
            <a:extLst>
              <a:ext uri="{FF2B5EF4-FFF2-40B4-BE49-F238E27FC236}">
                <a16:creationId xmlns:a16="http://schemas.microsoft.com/office/drawing/2014/main" id="{86EE8C70-8F9A-8462-A9FC-CD6F48061ADF}"/>
              </a:ext>
            </a:extLst>
          </p:cNvPr>
          <p:cNvSpPr/>
          <p:nvPr/>
        </p:nvSpPr>
        <p:spPr>
          <a:xfrm>
            <a:off x="10428467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sp>
        <p:nvSpPr>
          <p:cNvPr id="203" name="Shape 84">
            <a:extLst>
              <a:ext uri="{FF2B5EF4-FFF2-40B4-BE49-F238E27FC236}">
                <a16:creationId xmlns:a16="http://schemas.microsoft.com/office/drawing/2014/main" id="{2F765139-2F5B-48E0-1F6C-719E7422DDCC}"/>
              </a:ext>
            </a:extLst>
          </p:cNvPr>
          <p:cNvSpPr/>
          <p:nvPr/>
        </p:nvSpPr>
        <p:spPr>
          <a:xfrm>
            <a:off x="8848444" y="7853648"/>
            <a:ext cx="666978" cy="666978"/>
          </a:xfrm>
          <a:prstGeom prst="ellipse">
            <a:avLst/>
          </a:prstGeom>
          <a:solidFill>
            <a:schemeClr val="bg2"/>
          </a:solidFill>
          <a:ln>
            <a:solidFill>
              <a:srgbClr val="1B2A56"/>
            </a:solidFill>
          </a:ln>
        </p:spPr>
        <p:txBody>
          <a:bodyPr/>
          <a:lstStyle/>
          <a:p>
            <a:endParaRPr lang="en-US" sz="2700">
              <a:latin typeface="Montserrat" panose="00000500000000000000" pitchFamily="2" charset="0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85215091-0442-5747-26A5-223C242292A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476" y="7777676"/>
            <a:ext cx="761905" cy="666667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27C67098-81C9-A714-728E-456CBA4B02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426" y="7839596"/>
            <a:ext cx="666667" cy="685714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9000FD1E-003F-FC84-2341-A648F7EE02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52" y="7846125"/>
            <a:ext cx="666667" cy="609524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D5A9CEF2-9191-7CD9-C17C-32014BE03E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657" y="7792617"/>
            <a:ext cx="866667" cy="65714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C7830-EE89-974B-8AFE-81491AEAE645}"/>
              </a:ext>
            </a:extLst>
          </p:cNvPr>
          <p:cNvGrpSpPr/>
          <p:nvPr/>
        </p:nvGrpSpPr>
        <p:grpSpPr>
          <a:xfrm>
            <a:off x="11211234" y="7848575"/>
            <a:ext cx="666978" cy="688348"/>
            <a:chOff x="8846221" y="7832278"/>
            <a:chExt cx="666978" cy="688348"/>
          </a:xfrm>
        </p:grpSpPr>
        <p:sp>
          <p:nvSpPr>
            <p:cNvPr id="197" name="Shape 84">
              <a:extLst>
                <a:ext uri="{FF2B5EF4-FFF2-40B4-BE49-F238E27FC236}">
                  <a16:creationId xmlns:a16="http://schemas.microsoft.com/office/drawing/2014/main" id="{233A3927-10CB-4C15-A9D2-3A68299B0226}"/>
                </a:ext>
              </a:extLst>
            </p:cNvPr>
            <p:cNvSpPr/>
            <p:nvPr/>
          </p:nvSpPr>
          <p:spPr>
            <a:xfrm>
              <a:off x="8846221" y="7853648"/>
              <a:ext cx="666978" cy="666978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1B2A56"/>
              </a:solidFill>
            </a:ln>
          </p:spPr>
          <p:txBody>
            <a:bodyPr/>
            <a:lstStyle/>
            <a:p>
              <a:endParaRPr lang="en-US" sz="2700">
                <a:latin typeface="Montserrat" panose="00000500000000000000" pitchFamily="2" charset="0"/>
              </a:endParaRPr>
            </a:p>
          </p:txBody>
        </p:sp>
        <p:pic>
          <p:nvPicPr>
            <p:cNvPr id="205" name="Picture 204">
              <a:extLst>
                <a:ext uri="{FF2B5EF4-FFF2-40B4-BE49-F238E27FC236}">
                  <a16:creationId xmlns:a16="http://schemas.microsoft.com/office/drawing/2014/main" id="{BBAB7CCF-7DED-E1CF-B37A-AC6A9D9B5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2824" y="7832278"/>
              <a:ext cx="561905" cy="580952"/>
            </a:xfrm>
            <a:prstGeom prst="rect">
              <a:avLst/>
            </a:prstGeom>
          </p:spPr>
        </p:pic>
      </p:grpSp>
      <p:pic>
        <p:nvPicPr>
          <p:cNvPr id="207" name="Picture 206">
            <a:extLst>
              <a:ext uri="{FF2B5EF4-FFF2-40B4-BE49-F238E27FC236}">
                <a16:creationId xmlns:a16="http://schemas.microsoft.com/office/drawing/2014/main" id="{4B25213B-8896-DE11-CACA-5242DD9BBD5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589" y="7805630"/>
            <a:ext cx="533333" cy="657143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8D2431A7-9252-11F5-FF71-EDDA42ED8050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8942" t="7260" r="17730" b="25925"/>
          <a:stretch>
            <a:fillRect/>
          </a:stretch>
        </p:blipFill>
        <p:spPr>
          <a:xfrm>
            <a:off x="9691236" y="7925371"/>
            <a:ext cx="578704" cy="5206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C05A08-5E0A-D332-973F-48C9E427F2FD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15648001" y="3498284"/>
            <a:ext cx="2116174" cy="166955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38912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000" y="524026"/>
            <a:ext cx="1001268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FOUNDATION</a:t>
            </a:r>
            <a:r>
              <a:rPr lang="en-US"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 AND DATA COLLECTION</a:t>
            </a:r>
            <a:endParaRPr sz="3750" b="1" dirty="0">
              <a:solidFill>
                <a:srgbClr val="0F2C59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9000" y="1481328"/>
            <a:ext cx="10561320" cy="244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 dirty="0">
                <a:solidFill>
                  <a:srgbClr val="5A6473"/>
                </a:solidFill>
                <a:latin typeface="Montserrat" panose="00000500000000000000" pitchFamily="2" charset="0"/>
              </a:rPr>
              <a:t>Build a solid foundation, validate data and formulas to reduce risk before full rollout.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231449" y="384048"/>
            <a:ext cx="3503337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92337" y="618609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50" b="1" dirty="0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  <a:endParaRPr sz="1650" b="1" dirty="0">
              <a:solidFill>
                <a:srgbClr val="F59E0B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15516" y="1060677"/>
            <a:ext cx="3058668" cy="595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Build a solid foundation, validate data and formulas in a pilot scope to reduce risk before full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3503337" cy="308270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715768"/>
            <a:ext cx="356616" cy="3566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36976"/>
            <a:ext cx="3133006" cy="1873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95" b="1" dirty="0">
                <a:solidFill>
                  <a:srgbClr val="2563EB"/>
                </a:solidFill>
                <a:latin typeface="Montserrat" panose="00000500000000000000" pitchFamily="2" charset="0"/>
              </a:rPr>
              <a:t>• 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Audit and clean production data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95" b="1" dirty="0">
                <a:solidFill>
                  <a:srgbClr val="2563EB"/>
                </a:solidFill>
                <a:latin typeface="Montserrat" panose="00000500000000000000" pitchFamily="2" charset="0"/>
              </a:rPr>
              <a:t>• 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Select benchmark workers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95" b="1" dirty="0">
                <a:solidFill>
                  <a:srgbClr val="2563EB"/>
                </a:solidFill>
                <a:latin typeface="Montserrat" panose="00000500000000000000" pitchFamily="2" charset="0"/>
              </a:rPr>
              <a:t>• 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Validate formulas and parameters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95" b="1" dirty="0">
                <a:solidFill>
                  <a:srgbClr val="2563EB"/>
                </a:solidFill>
                <a:latin typeface="Montserrat" panose="00000500000000000000" pitchFamily="2" charset="0"/>
              </a:rPr>
              <a:t>• 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Test end-to-end process in </a:t>
            </a:r>
            <a:r>
              <a:rPr lang="en-US" sz="1395" dirty="0">
                <a:solidFill>
                  <a:srgbClr val="1E293B"/>
                </a:solidFill>
                <a:latin typeface="Montserrat" panose="00000500000000000000" pitchFamily="2" charset="0"/>
              </a:rPr>
              <a:t>production data</a:t>
            </a:r>
            <a:endParaRPr sz="1395" dirty="0">
              <a:solidFill>
                <a:srgbClr val="1E293B"/>
              </a:solidFill>
              <a:latin typeface="Montserrat" panose="00000500000000000000" pitchFamily="2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95" b="1" dirty="0">
                <a:solidFill>
                  <a:srgbClr val="2563EB"/>
                </a:solidFill>
                <a:latin typeface="Montserrat" panose="00000500000000000000" pitchFamily="2" charset="0"/>
              </a:rPr>
              <a:t>• 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Ensure readiness for Phase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8866" y="2441447"/>
            <a:ext cx="9685697" cy="308271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573185" y="2688336"/>
            <a:ext cx="356616" cy="3566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6962" y="2722375"/>
            <a:ext cx="864328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Key Activities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5754" y="3236976"/>
            <a:ext cx="1596983" cy="21574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056208" y="3332987"/>
            <a:ext cx="576072" cy="5760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8050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Data Audit &amp;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0618" y="4529208"/>
            <a:ext cx="1459823" cy="710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Check completeness, accuracy, duplicates, outliers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56452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4488" y="3236975"/>
            <a:ext cx="1596983" cy="2157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954942" y="3332987"/>
            <a:ext cx="576072" cy="5760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6784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Pilot Scope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4216" y="4516472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Choose process, workers, and time period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55186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43223" y="3236975"/>
            <a:ext cx="1596983" cy="2157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853678" y="3332987"/>
            <a:ext cx="576072" cy="5760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223" y="3922777"/>
            <a:ext cx="1596983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Benchmark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Candidate Sel</a:t>
            </a:r>
            <a:r>
              <a:rPr lang="en-US"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ection</a:t>
            </a:r>
            <a:endParaRPr sz="1395" b="1" dirty="0">
              <a:solidFill>
                <a:srgbClr val="0F2C59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36043" y="4559745"/>
            <a:ext cx="1377527" cy="710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Identify and </a:t>
            </a:r>
            <a:r>
              <a:rPr lang="en-US" sz="1155" dirty="0">
                <a:solidFill>
                  <a:srgbClr val="5A6473"/>
                </a:solidFill>
                <a:latin typeface="Montserrat" panose="00000500000000000000" pitchFamily="2" charset="0"/>
              </a:rPr>
              <a:t>choose</a:t>
            </a: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 potential benchmark workers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953921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241957" y="3236976"/>
            <a:ext cx="1596983" cy="21574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752413" y="3332987"/>
            <a:ext cx="576072" cy="5760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4253" y="3922777"/>
            <a:ext cx="1432391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Formula &amp;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Parameter 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685" y="4571674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Define initial formulas, factors, thresholds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1852655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2140692" y="3236976"/>
            <a:ext cx="1596983" cy="21574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2651147" y="3332987"/>
            <a:ext cx="576072" cy="5760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22988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Data</a:t>
            </a: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 Test &amp;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50419" y="4556768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Run end-to-end test, validate</a:t>
            </a:r>
            <a:r>
              <a:rPr lang="en-US" sz="1155" dirty="0">
                <a:solidFill>
                  <a:srgbClr val="5A6473"/>
                </a:solidFill>
                <a:latin typeface="Montserrat" panose="00000500000000000000" pitchFamily="2" charset="0"/>
              </a:rPr>
              <a:t> and </a:t>
            </a:r>
            <a:r>
              <a:rPr lang="en-US" sz="1155" dirty="0" err="1">
                <a:solidFill>
                  <a:srgbClr val="5A6473"/>
                </a:solidFill>
                <a:latin typeface="Montserrat" panose="00000500000000000000" pitchFamily="2" charset="0"/>
              </a:rPr>
              <a:t>backtest</a:t>
            </a:r>
            <a:endParaRPr sz="1155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4231450" y="2441448"/>
            <a:ext cx="3503337" cy="30556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4505770" y="2715768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9954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Deliverables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546919" y="3278125"/>
            <a:ext cx="2927265" cy="1604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Cleaned Dataset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Approved Benchmark Workers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Initial Parameters &amp; Factors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Test Report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Go/No-Go Decision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1" y="5760463"/>
            <a:ext cx="4978427" cy="249957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22960" y="5829042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6737" y="5863080"/>
            <a:ext cx="393601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Scope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3" y="6327556"/>
            <a:ext cx="4402355" cy="1248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1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410" b="1" dirty="0">
                <a:solidFill>
                  <a:srgbClr val="1E293B"/>
                </a:solidFill>
                <a:latin typeface="Montserrat" panose="00000500000000000000" pitchFamily="2" charset="0"/>
              </a:rPr>
              <a:t>Process: </a:t>
            </a:r>
            <a:r>
              <a:rPr lang="en-US" sz="1410" dirty="0">
                <a:solidFill>
                  <a:srgbClr val="5A6473"/>
                </a:solidFill>
                <a:latin typeface="Montserrat" panose="00000500000000000000" pitchFamily="2" charset="0"/>
              </a:rPr>
              <a:t>5</a:t>
            </a:r>
            <a:r>
              <a:rPr sz="1410" dirty="0">
                <a:solidFill>
                  <a:srgbClr val="5A6473"/>
                </a:solidFill>
                <a:latin typeface="Montserrat" panose="00000500000000000000" pitchFamily="2" charset="0"/>
              </a:rPr>
              <a:t> key processes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1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410" b="1" dirty="0">
                <a:solidFill>
                  <a:srgbClr val="1E293B"/>
                </a:solidFill>
                <a:latin typeface="Montserrat" panose="00000500000000000000" pitchFamily="2" charset="0"/>
              </a:rPr>
              <a:t>Workers: </a:t>
            </a:r>
            <a:r>
              <a:rPr lang="en-US" sz="1410" dirty="0">
                <a:solidFill>
                  <a:srgbClr val="5A6473"/>
                </a:solidFill>
                <a:latin typeface="Montserrat" panose="00000500000000000000" pitchFamily="2" charset="0"/>
              </a:rPr>
              <a:t>All GS</a:t>
            </a:r>
            <a:r>
              <a:rPr sz="1410" dirty="0">
                <a:solidFill>
                  <a:srgbClr val="5A6473"/>
                </a:solidFill>
                <a:latin typeface="Montserrat" panose="00000500000000000000" pitchFamily="2" charset="0"/>
              </a:rPr>
              <a:t> workers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1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410" b="1" dirty="0">
                <a:solidFill>
                  <a:srgbClr val="1E293B"/>
                </a:solidFill>
                <a:latin typeface="Montserrat" panose="00000500000000000000" pitchFamily="2" charset="0"/>
              </a:rPr>
              <a:t>Time Period: </a:t>
            </a:r>
            <a:r>
              <a:rPr lang="en-US" sz="1410" dirty="0">
                <a:solidFill>
                  <a:srgbClr val="5A6473"/>
                </a:solidFill>
                <a:latin typeface="Montserrat" panose="00000500000000000000" pitchFamily="2" charset="0"/>
              </a:rPr>
              <a:t>May 2025 to June 2026</a:t>
            </a:r>
            <a:endParaRPr sz="1410" dirty="0">
              <a:solidFill>
                <a:srgbClr val="5A6473"/>
              </a:solidFill>
              <a:latin typeface="Montserrat" panose="00000500000000000000" pitchFamily="2" charset="0"/>
            </a:endParaRP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1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410" b="1" dirty="0">
                <a:solidFill>
                  <a:srgbClr val="1E293B"/>
                </a:solidFill>
                <a:latin typeface="Montserrat" panose="00000500000000000000" pitchFamily="2" charset="0"/>
              </a:rPr>
              <a:t>Semi Items: </a:t>
            </a:r>
            <a:r>
              <a:rPr lang="en-US" sz="1410" dirty="0">
                <a:solidFill>
                  <a:srgbClr val="5A6473"/>
                </a:solidFill>
                <a:latin typeface="Montserrat" panose="00000500000000000000" pitchFamily="2" charset="0"/>
              </a:rPr>
              <a:t>All </a:t>
            </a:r>
            <a:r>
              <a:rPr sz="1410" dirty="0">
                <a:solidFill>
                  <a:srgbClr val="5A6473"/>
                </a:solidFill>
                <a:latin typeface="Montserrat" panose="00000500000000000000" pitchFamily="2" charset="0"/>
              </a:rPr>
              <a:t>items </a:t>
            </a:r>
            <a:r>
              <a:rPr lang="en-US" sz="1410" dirty="0">
                <a:solidFill>
                  <a:srgbClr val="5A6473"/>
                </a:solidFill>
                <a:latin typeface="Montserrat" panose="00000500000000000000" pitchFamily="2" charset="0"/>
              </a:rPr>
              <a:t>produced</a:t>
            </a:r>
            <a:endParaRPr sz="1410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773955" y="5760463"/>
            <a:ext cx="5856972" cy="249957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048275" y="5829042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2051" y="5863080"/>
            <a:ext cx="481455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Success Criteria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3009" y="6319686"/>
            <a:ext cx="5595512" cy="1831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lang="en-US" sz="1500" dirty="0">
                <a:latin typeface="Montserrat" panose="00000500000000000000" pitchFamily="2" charset="0"/>
              </a:rPr>
              <a:t>✅</a:t>
            </a:r>
            <a:r>
              <a:rPr sz="1395" b="1" dirty="0">
                <a:solidFill>
                  <a:srgbClr val="10B981"/>
                </a:solidFill>
                <a:latin typeface="Montserrat" panose="00000500000000000000" pitchFamily="2" charset="0"/>
              </a:rPr>
              <a:t> 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Data completeness ≥ 95%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lang="en-US" sz="1500" dirty="0">
                <a:latin typeface="Montserrat" panose="00000500000000000000" pitchFamily="2" charset="0"/>
              </a:rPr>
              <a:t>✅</a:t>
            </a:r>
            <a:r>
              <a:rPr sz="1395" b="1" dirty="0">
                <a:solidFill>
                  <a:srgbClr val="10B981"/>
                </a:solidFill>
                <a:latin typeface="Montserrat" panose="00000500000000000000" pitchFamily="2" charset="0"/>
              </a:rPr>
              <a:t> 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Outliers handled, data quality score ≥ 80%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lang="en-US" sz="1500" dirty="0">
                <a:latin typeface="Montserrat" panose="00000500000000000000" pitchFamily="2" charset="0"/>
              </a:rPr>
              <a:t>✅</a:t>
            </a:r>
            <a:r>
              <a:rPr sz="1395" b="1" dirty="0">
                <a:solidFill>
                  <a:srgbClr val="10B981"/>
                </a:solidFill>
                <a:latin typeface="Montserrat" panose="00000500000000000000" pitchFamily="2" charset="0"/>
              </a:rPr>
              <a:t>  </a:t>
            </a:r>
            <a:r>
              <a:rPr lang="en-US" sz="1395" dirty="0">
                <a:solidFill>
                  <a:srgbClr val="1E293B"/>
                </a:solidFill>
                <a:latin typeface="Montserrat" panose="00000500000000000000" pitchFamily="2" charset="0"/>
              </a:rPr>
              <a:t>Benchmark worker coverage ≥ 90% volume of semi produced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lang="en-US" sz="1500" dirty="0">
                <a:latin typeface="Montserrat" panose="00000500000000000000" pitchFamily="2" charset="0"/>
              </a:rPr>
              <a:t>✅</a:t>
            </a:r>
            <a:r>
              <a:rPr sz="1395" b="1" dirty="0">
                <a:solidFill>
                  <a:srgbClr val="10B981"/>
                </a:solidFill>
                <a:latin typeface="Montserrat" panose="00000500000000000000" pitchFamily="2" charset="0"/>
              </a:rPr>
              <a:t> </a:t>
            </a:r>
            <a:r>
              <a:rPr lang="en-US" sz="1395" b="1" dirty="0">
                <a:solidFill>
                  <a:srgbClr val="10B981"/>
                </a:solidFill>
                <a:latin typeface="Montserrat" panose="00000500000000000000" pitchFamily="2" charset="0"/>
              </a:rPr>
              <a:t> 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Suggest Skill rankings reasonable vs. Planner perception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lang="en-US" sz="1500" dirty="0">
                <a:latin typeface="Montserrat" panose="00000500000000000000" pitchFamily="2" charset="0"/>
              </a:rPr>
              <a:t>✅</a:t>
            </a:r>
            <a:r>
              <a:rPr sz="1395" b="1" dirty="0">
                <a:solidFill>
                  <a:srgbClr val="10B981"/>
                </a:solidFill>
                <a:latin typeface="Montserrat" panose="00000500000000000000" pitchFamily="2" charset="0"/>
              </a:rPr>
              <a:t> </a:t>
            </a:r>
            <a:r>
              <a:rPr lang="en-US" sz="1395" b="1" dirty="0">
                <a:solidFill>
                  <a:srgbClr val="10B981"/>
                </a:solidFill>
                <a:latin typeface="Montserrat" panose="00000500000000000000" pitchFamily="2" charset="0"/>
              </a:rPr>
              <a:t> </a:t>
            </a:r>
            <a:r>
              <a:rPr lang="en-US" sz="1395" dirty="0">
                <a:solidFill>
                  <a:srgbClr val="1E293B"/>
                </a:solidFill>
                <a:latin typeface="Montserrat" panose="00000500000000000000" pitchFamily="2" charset="0"/>
              </a:rPr>
              <a:t>Te</a:t>
            </a:r>
            <a:r>
              <a:rPr sz="1395" dirty="0">
                <a:solidFill>
                  <a:srgbClr val="1E293B"/>
                </a:solidFill>
                <a:latin typeface="Montserrat" panose="00000500000000000000" pitchFamily="2" charset="0"/>
              </a:rPr>
              <a:t>st completed with documented results &amp; learnings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877815" y="5760463"/>
            <a:ext cx="5856972" cy="249957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12152135" y="5829042"/>
            <a:ext cx="356616" cy="35661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45911" y="5863080"/>
            <a:ext cx="481455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Risks &amp; Mitigation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04593" y="6324660"/>
            <a:ext cx="5280900" cy="182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50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Insufficient/poor data: </a:t>
            </a:r>
            <a:r>
              <a:rPr sz="1350" dirty="0">
                <a:solidFill>
                  <a:srgbClr val="5A6473"/>
                </a:solidFill>
                <a:latin typeface="Montserrat" panose="00000500000000000000" pitchFamily="2" charset="0"/>
              </a:rPr>
              <a:t>strengthen cleaning, work with IT &amp; operations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50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Too few benchmark candidates: </a:t>
            </a:r>
            <a:r>
              <a:rPr sz="1350" dirty="0">
                <a:solidFill>
                  <a:srgbClr val="5A6473"/>
                </a:solidFill>
                <a:latin typeface="Montserrat" panose="00000500000000000000" pitchFamily="2" charset="0"/>
              </a:rPr>
              <a:t>expand time range or adjust criteria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50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Pilot scope not representative: </a:t>
            </a:r>
            <a:r>
              <a:rPr sz="1350" dirty="0">
                <a:solidFill>
                  <a:srgbClr val="5A6473"/>
                </a:solidFill>
                <a:latin typeface="Montserrat" panose="00000500000000000000" pitchFamily="2" charset="0"/>
              </a:rPr>
              <a:t>validate with Planner, adjust if needed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50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350" b="1" dirty="0">
                <a:solidFill>
                  <a:srgbClr val="1E293B"/>
                </a:solidFill>
                <a:latin typeface="Montserrat" panose="00000500000000000000" pitchFamily="2" charset="0"/>
              </a:rPr>
              <a:t>Planner unavailable: </a:t>
            </a:r>
            <a:r>
              <a:rPr sz="1350" dirty="0">
                <a:solidFill>
                  <a:srgbClr val="5A6473"/>
                </a:solidFill>
                <a:latin typeface="Montserrat" panose="00000500000000000000" pitchFamily="2" charset="0"/>
              </a:rPr>
              <a:t>confirm schedule in advance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1" y="8575668"/>
            <a:ext cx="3927617" cy="99036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726948" y="8726543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61873" y="8753976"/>
            <a:ext cx="2967497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 dirty="0">
                <a:solidFill>
                  <a:srgbClr val="2563EB"/>
                </a:solidFill>
                <a:latin typeface="Montserrat" panose="00000500000000000000" pitchFamily="2" charset="0"/>
              </a:rPr>
              <a:t>Estimated Duration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3" y="9234035"/>
            <a:ext cx="3378977" cy="193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2563EB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3–4 Weeks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23145" y="8575668"/>
            <a:ext cx="7855233" cy="99036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4901453" y="8726543"/>
            <a:ext cx="411480" cy="411480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36377" y="8753976"/>
            <a:ext cx="6895113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0F2C59"/>
                </a:solidFill>
                <a:latin typeface="Montserrat" panose="00000500000000000000" pitchFamily="2" charset="0"/>
              </a:rPr>
              <a:t>Key Roles Involved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4897" y="9234035"/>
            <a:ext cx="7306593" cy="193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Planner (Lead), </a:t>
            </a:r>
            <a:r>
              <a:rPr lang="en-US" sz="1245" dirty="0">
                <a:solidFill>
                  <a:srgbClr val="1E293B"/>
                </a:solidFill>
                <a:latin typeface="Montserrat" panose="00000500000000000000" pitchFamily="2" charset="0"/>
              </a:rPr>
              <a:t>Performance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Analyst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2825266" y="8575668"/>
            <a:ext cx="4909521" cy="99036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3003574" y="8726543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538498" y="8753976"/>
            <a:ext cx="3949401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Key Output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127018" y="9234035"/>
            <a:ext cx="4360881" cy="1930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Pilot Ready — ready to scale to Phase 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4D12FFA-989C-D393-F07F-CEC72FC04973}"/>
              </a:ext>
            </a:extLst>
          </p:cNvPr>
          <p:cNvGrpSpPr/>
          <p:nvPr/>
        </p:nvGrpSpPr>
        <p:grpSpPr>
          <a:xfrm>
            <a:off x="14415516" y="522515"/>
            <a:ext cx="438912" cy="438912"/>
            <a:chOff x="14340079" y="404622"/>
            <a:chExt cx="438912" cy="438912"/>
          </a:xfrm>
        </p:grpSpPr>
        <p:sp>
          <p:nvSpPr>
            <p:cNvPr id="7" name="Oval 6"/>
            <p:cNvSpPr/>
            <p:nvPr/>
          </p:nvSpPr>
          <p:spPr>
            <a:xfrm>
              <a:off x="14340079" y="404622"/>
              <a:ext cx="438912" cy="4389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sz="1950" b="1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21C1204-F261-6017-21BD-EB50CFB5B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5123" r="24516" b="12911"/>
            <a:stretch>
              <a:fillRect/>
            </a:stretch>
          </p:blipFill>
          <p:spPr>
            <a:xfrm>
              <a:off x="14377988" y="404622"/>
              <a:ext cx="366713" cy="402622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38912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000" y="384048"/>
            <a:ext cx="1001268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>
                <a:solidFill>
                  <a:srgbClr val="0F2C59"/>
                </a:solidFill>
                <a:latin typeface="Montserrat" panose="00000500000000000000" pitchFamily="2" charset="0"/>
              </a:rPr>
              <a:t>BENCHMARK-BASED SUGGEST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042416"/>
            <a:ext cx="1001268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50" b="1" dirty="0">
                <a:solidFill>
                  <a:srgbClr val="10B981"/>
                </a:solidFill>
                <a:latin typeface="Montserrat" panose="00000500000000000000" pitchFamily="2" charset="0"/>
              </a:rPr>
              <a:t>(Completed)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481328"/>
            <a:ext cx="10561320" cy="498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>
                <a:solidFill>
                  <a:srgbClr val="5A6473"/>
                </a:solidFill>
                <a:latin typeface="Montserrat" panose="00000500000000000000" pitchFamily="2" charset="0"/>
              </a:rPr>
              <a:t>Calculate worker Suggest Skill based on benchmark and production history using a transparent, rule-based formula with confidence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96060" y="384048"/>
            <a:ext cx="3497580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4360651" y="52120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81861" y="466344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15516" y="864108"/>
            <a:ext cx="3058668" cy="595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Generate transparent Suggest Skill for each worker and process based on benchmark and production history.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39" y="2441447"/>
            <a:ext cx="3644147" cy="276176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5034" y="2646364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 dirty="0">
                <a:solidFill>
                  <a:srgbClr val="FFFFFF"/>
                </a:solidFill>
                <a:latin typeface="Montserrat" panose="00000500000000000000" pitchFamily="2" charset="0"/>
              </a:rP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8811" y="2680403"/>
            <a:ext cx="2296058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dirty="0">
                <a:solidFill>
                  <a:srgbClr val="0F2C59"/>
                </a:solidFill>
                <a:latin typeface="Montserrat" panose="00000500000000000000" pitchFamily="2" charset="0"/>
              </a:rPr>
              <a:t>Input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106105"/>
            <a:ext cx="3282267" cy="1717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Production History: 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time, quantity, process, semi item, material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Benchmark Workers: 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approved benchmark for each process</a:t>
            </a:r>
            <a:r>
              <a:rPr lang="en-US" sz="1290" dirty="0">
                <a:solidFill>
                  <a:srgbClr val="5A6473"/>
                </a:solidFill>
                <a:latin typeface="Montserrat" panose="00000500000000000000" pitchFamily="2" charset="0"/>
              </a:rPr>
              <a:t>/semi item</a:t>
            </a:r>
            <a:endParaRPr sz="1290" dirty="0">
              <a:solidFill>
                <a:srgbClr val="5A6473"/>
              </a:solidFill>
              <a:latin typeface="Montserrat" panose="00000500000000000000" pitchFamily="2" charset="0"/>
            </a:endParaRP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lang="en-US"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Material Expertise Score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: 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material type &amp; adjustment factor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lang="en-US"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Style Diversity Score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:</a:t>
            </a:r>
            <a:endParaRPr sz="1290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47598" y="2441447"/>
            <a:ext cx="9598113" cy="27617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11618" y="2646364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 dirty="0">
                <a:solidFill>
                  <a:srgbClr val="FFFFFF"/>
                </a:solidFill>
                <a:latin typeface="Montserrat" panose="00000500000000000000" pitchFamily="2" charset="0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5394" y="2680403"/>
            <a:ext cx="8555697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dirty="0">
                <a:solidFill>
                  <a:srgbClr val="0F2C59"/>
                </a:solidFill>
                <a:latin typeface="Montserrat" panose="00000500000000000000" pitchFamily="2" charset="0"/>
              </a:rPr>
              <a:t>Process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4486" y="3236974"/>
            <a:ext cx="1579466" cy="18405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196183" y="3332986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6782" y="3922775"/>
            <a:ext cx="1414874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Production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History Agg</a:t>
            </a:r>
            <a:r>
              <a:rPr lang="en-US"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regate</a:t>
            </a:r>
            <a:endParaRPr sz="1395" b="1" dirty="0">
              <a:solidFill>
                <a:srgbClr val="0F2C59"/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13492" y="4542332"/>
            <a:ext cx="1360010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Aggregate historical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287667" y="3943349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75704" y="3236975"/>
            <a:ext cx="1579466" cy="18405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077401" y="3332986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8000" y="3922775"/>
            <a:ext cx="1414874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Benchmark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5432" y="4529169"/>
            <a:ext cx="1360010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Compare vs. benchmark worker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168886" y="3943349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456923" y="3236974"/>
            <a:ext cx="1579466" cy="184050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958618" y="3332986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9219" y="3922775"/>
            <a:ext cx="1414874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Skill Cal</a:t>
            </a:r>
            <a:r>
              <a:rPr lang="en-US"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culation</a:t>
            </a:r>
            <a:endParaRPr sz="1395" b="1" dirty="0">
              <a:solidFill>
                <a:srgbClr val="0F2C59"/>
              </a:solidFill>
              <a:latin typeface="Montserrat" panose="00000500000000000000" pitchFamily="2" charset="0"/>
            </a:endParaRP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(Rule-based)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4083" y="4539247"/>
            <a:ext cx="1360010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Compute Suggest Skill score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050104" y="3943349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338140" y="3236975"/>
            <a:ext cx="1579466" cy="1842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839837" y="3332986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0436" y="3922775"/>
            <a:ext cx="1414874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Confidence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8572" y="4542332"/>
            <a:ext cx="1360010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Score data quality (0–10)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1931321" y="3943349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2219358" y="3236974"/>
            <a:ext cx="1579466" cy="18254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2721055" y="3332986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01654" y="3922775"/>
            <a:ext cx="1414874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Planner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29086" y="4542568"/>
            <a:ext cx="1360010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For reference (</a:t>
            </a: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Phase </a:t>
            </a:r>
            <a:r>
              <a:rPr lang="en-US" sz="1155">
                <a:solidFill>
                  <a:srgbClr val="5A6473"/>
                </a:solidFill>
                <a:latin typeface="Montserrat" panose="00000500000000000000" pitchFamily="2" charset="0"/>
              </a:rPr>
              <a:t>3</a:t>
            </a: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)</a:t>
            </a:r>
            <a:endParaRPr sz="1155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4360651" y="2441447"/>
            <a:ext cx="3332989" cy="27617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4634970" y="2646364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128747" y="2680403"/>
            <a:ext cx="2713367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dirty="0">
                <a:solidFill>
                  <a:srgbClr val="0F2C59"/>
                </a:solidFill>
                <a:latin typeface="Montserrat" panose="00000500000000000000" pitchFamily="2" charset="0"/>
              </a:rP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03334" y="3109986"/>
            <a:ext cx="3058669" cy="1717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Suggest Skill (v1): 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with confidence &amp; explanation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Skill Breakdown: 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speed, material,, others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Confidence </a:t>
            </a:r>
            <a:r>
              <a:rPr lang="en-US"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%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: 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0–10</a:t>
            </a:r>
            <a:r>
              <a:rPr lang="en-US" sz="1290" dirty="0">
                <a:solidFill>
                  <a:srgbClr val="5A6473"/>
                </a:solidFill>
                <a:latin typeface="Montserrat" panose="00000500000000000000" pitchFamily="2" charset="0"/>
              </a:rPr>
              <a:t>0%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 scale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90" b="1" dirty="0">
                <a:solidFill>
                  <a:srgbClr val="1E293B"/>
                </a:solidFill>
                <a:latin typeface="Montserrat" panose="00000500000000000000" pitchFamily="2" charset="0"/>
              </a:rPr>
              <a:t>Planner Review Queue: </a:t>
            </a:r>
            <a:r>
              <a:rPr sz="1290" dirty="0">
                <a:solidFill>
                  <a:srgbClr val="5A6473"/>
                </a:solidFill>
                <a:latin typeface="Montserrat" panose="00000500000000000000" pitchFamily="2" charset="0"/>
              </a:rPr>
              <a:t>for Phase </a:t>
            </a:r>
            <a:r>
              <a:rPr lang="en-US" sz="1290" dirty="0">
                <a:solidFill>
                  <a:srgbClr val="5A6473"/>
                </a:solidFill>
                <a:latin typeface="Montserrat" panose="00000500000000000000" pitchFamily="2" charset="0"/>
              </a:rPr>
              <a:t>3</a:t>
            </a:r>
            <a:endParaRPr sz="1290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54636" y="5340377"/>
            <a:ext cx="5524264" cy="2944087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01523" y="555983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f(x)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7596" y="5599641"/>
            <a:ext cx="422931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1" dirty="0">
                <a:solidFill>
                  <a:srgbClr val="0F2C59"/>
                </a:solidFill>
                <a:latin typeface="Montserrat" panose="00000500000000000000" pitchFamily="2" charset="0"/>
              </a:rPr>
              <a:t>Key Formula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1523" y="6135904"/>
            <a:ext cx="4997413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 dirty="0">
              <a:latin typeface="Montserrat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911252" y="6204486"/>
                <a:ext cx="4613366" cy="62459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sz="1320" b="1" dirty="0">
                    <a:solidFill>
                      <a:srgbClr val="0F2C59"/>
                    </a:solidFill>
                    <a:latin typeface="Montserrat" panose="00000500000000000000" pitchFamily="2" charset="0"/>
                  </a:rPr>
                  <a:t>Suggest Skill =</a:t>
                </a:r>
                <a:r>
                  <a:rPr lang="en-US" sz="1320" b="1" dirty="0">
                    <a:solidFill>
                      <a:srgbClr val="0F2C59"/>
                    </a:solidFill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320" b="1" i="1" smtClean="0">
                        <a:solidFill>
                          <a:srgbClr val="0F2C5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sz="1320" b="1" dirty="0">
                    <a:solidFill>
                      <a:srgbClr val="0F2C59"/>
                    </a:solidFill>
                    <a:latin typeface="Montserrat" panose="00000500000000000000" pitchFamily="2" charset="0"/>
                  </a:rPr>
                  <a:t>(Benchmark Time / Worker Time)</a:t>
                </a:r>
                <a:r>
                  <a:rPr lang="en-US" sz="1320" b="1" dirty="0">
                    <a:solidFill>
                      <a:srgbClr val="0F2C59"/>
                    </a:solidFill>
                    <a:latin typeface="Montserrat" panose="00000500000000000000" pitchFamily="2" charset="0"/>
                  </a:rPr>
                  <a:t> </a:t>
                </a:r>
              </a:p>
              <a:p>
                <a:r>
                  <a:rPr lang="en-US" sz="1320" b="1" dirty="0">
                    <a:solidFill>
                      <a:srgbClr val="0F2C59"/>
                    </a:solidFill>
                    <a:latin typeface="Montserrat" panose="00000500000000000000" pitchFamily="2" charset="0"/>
                  </a:rPr>
                  <a:t>× Material Expertise Score × Style Diversity Score x Process Expertise Score</a:t>
                </a:r>
                <a:endParaRPr sz="1320" b="1" dirty="0">
                  <a:solidFill>
                    <a:srgbClr val="0F2C59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52" y="6204486"/>
                <a:ext cx="4613366" cy="624595"/>
              </a:xfrm>
              <a:prstGeom prst="rect">
                <a:avLst/>
              </a:prstGeom>
              <a:blipFill>
                <a:blip r:embed="rId3"/>
                <a:stretch>
                  <a:fillRect l="-2246" t="-686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828955" y="6979956"/>
            <a:ext cx="4997413" cy="119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50"/>
              </a:spcAft>
            </a:pPr>
            <a:r>
              <a:rPr lang="en-US" sz="117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170" b="1" dirty="0">
                <a:solidFill>
                  <a:srgbClr val="1B2A56"/>
                </a:solidFill>
                <a:latin typeface="Montserrat" panose="00000500000000000000" pitchFamily="2" charset="0"/>
              </a:rPr>
              <a:t>Benchmark Time: </a:t>
            </a:r>
            <a:r>
              <a:rPr sz="1170" dirty="0">
                <a:solidFill>
                  <a:srgbClr val="5A6473"/>
                </a:solidFill>
                <a:latin typeface="Montserrat" panose="00000500000000000000" pitchFamily="2" charset="0"/>
              </a:rPr>
              <a:t>av</a:t>
            </a:r>
            <a:r>
              <a:rPr lang="en-US" sz="1170" dirty="0">
                <a:solidFill>
                  <a:srgbClr val="5A6473"/>
                </a:solidFill>
                <a:latin typeface="Montserrat" panose="00000500000000000000" pitchFamily="2" charset="0"/>
              </a:rPr>
              <a:t>era</a:t>
            </a:r>
            <a:r>
              <a:rPr sz="1170" dirty="0">
                <a:solidFill>
                  <a:srgbClr val="5A6473"/>
                </a:solidFill>
                <a:latin typeface="Montserrat" panose="00000500000000000000" pitchFamily="2" charset="0"/>
              </a:rPr>
              <a:t>g</a:t>
            </a:r>
            <a:r>
              <a:rPr lang="en-US" sz="1170" dirty="0">
                <a:solidFill>
                  <a:srgbClr val="5A6473"/>
                </a:solidFill>
                <a:latin typeface="Montserrat" panose="00000500000000000000" pitchFamily="2" charset="0"/>
              </a:rPr>
              <a:t>e process</a:t>
            </a:r>
            <a:r>
              <a:rPr sz="1170" dirty="0">
                <a:solidFill>
                  <a:srgbClr val="5A6473"/>
                </a:solidFill>
                <a:latin typeface="Montserrat" panose="00000500000000000000" pitchFamily="2" charset="0"/>
              </a:rPr>
              <a:t> time of benchmark worker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lang="en-US" sz="117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170" b="1" dirty="0">
                <a:solidFill>
                  <a:srgbClr val="1B2A56"/>
                </a:solidFill>
                <a:latin typeface="Montserrat" panose="00000500000000000000" pitchFamily="2" charset="0"/>
              </a:rPr>
              <a:t>Worker Time: </a:t>
            </a:r>
            <a:r>
              <a:rPr lang="en-US" sz="1170" dirty="0">
                <a:solidFill>
                  <a:srgbClr val="5A6473"/>
                </a:solidFill>
                <a:latin typeface="Montserrat" panose="00000500000000000000" pitchFamily="2" charset="0"/>
              </a:rPr>
              <a:t>average process time </a:t>
            </a:r>
            <a:r>
              <a:rPr sz="1170" dirty="0">
                <a:solidFill>
                  <a:srgbClr val="5A6473"/>
                </a:solidFill>
                <a:latin typeface="Montserrat" panose="00000500000000000000" pitchFamily="2" charset="0"/>
              </a:rPr>
              <a:t>of the worker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lang="en-US" sz="117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lang="en-US" sz="1170" b="1" dirty="0">
                <a:solidFill>
                  <a:srgbClr val="1B2A56"/>
                </a:solidFill>
                <a:latin typeface="Montserrat" panose="00000500000000000000" pitchFamily="2" charset="0"/>
              </a:rPr>
              <a:t>Material Expertise Score: </a:t>
            </a:r>
            <a:r>
              <a:rPr sz="1170" dirty="0">
                <a:solidFill>
                  <a:srgbClr val="5A6473"/>
                </a:solidFill>
                <a:latin typeface="Montserrat" panose="00000500000000000000" pitchFamily="2" charset="0"/>
              </a:rPr>
              <a:t>adjustment for material complexity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lang="en-US" sz="117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lang="en-US" sz="1170" b="1" dirty="0">
                <a:solidFill>
                  <a:srgbClr val="1B2A56"/>
                </a:solidFill>
                <a:latin typeface="Montserrat" panose="00000500000000000000" pitchFamily="2" charset="0"/>
              </a:rPr>
              <a:t>Style Diversity Score</a:t>
            </a:r>
            <a:r>
              <a:rPr sz="1170" b="1" dirty="0">
                <a:solidFill>
                  <a:srgbClr val="1B2A56"/>
                </a:solidFill>
                <a:latin typeface="Montserrat" panose="00000500000000000000" pitchFamily="2" charset="0"/>
              </a:rPr>
              <a:t>: </a:t>
            </a:r>
            <a:r>
              <a:rPr sz="1170" dirty="0">
                <a:solidFill>
                  <a:srgbClr val="5A6473"/>
                </a:solidFill>
                <a:latin typeface="Montserrat" panose="00000500000000000000" pitchFamily="2" charset="0"/>
              </a:rPr>
              <a:t>adjustment for </a:t>
            </a:r>
            <a:r>
              <a:rPr lang="en-US" sz="1170" dirty="0">
                <a:solidFill>
                  <a:srgbClr val="5A6473"/>
                </a:solidFill>
                <a:latin typeface="Montserrat" panose="00000500000000000000" pitchFamily="2" charset="0"/>
              </a:rPr>
              <a:t>style diversity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lang="en-US" sz="117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lang="en-US" sz="1170" b="1" dirty="0">
                <a:solidFill>
                  <a:srgbClr val="1B2A56"/>
                </a:solidFill>
                <a:latin typeface="Montserrat" panose="00000500000000000000" pitchFamily="2" charset="0"/>
              </a:rPr>
              <a:t>Process Expertise Score:</a:t>
            </a:r>
            <a:r>
              <a:rPr lang="en-US" sz="1170" b="1" dirty="0">
                <a:solidFill>
                  <a:srgbClr val="1E293B"/>
                </a:solidFill>
                <a:latin typeface="Montserrat" panose="00000500000000000000" pitchFamily="2" charset="0"/>
              </a:rPr>
              <a:t> </a:t>
            </a:r>
            <a:r>
              <a:rPr lang="en-US" sz="1170" dirty="0">
                <a:solidFill>
                  <a:srgbClr val="5A6473"/>
                </a:solidFill>
                <a:latin typeface="Montserrat" panose="00000500000000000000" pitchFamily="2" charset="0"/>
              </a:rPr>
              <a:t>adjustment for variety of process</a:t>
            </a:r>
            <a:endParaRPr sz="1170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25787" y="5340377"/>
            <a:ext cx="3516739" cy="294408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6578495" y="5457267"/>
            <a:ext cx="356616" cy="3566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 dirty="0">
                <a:solidFill>
                  <a:srgbClr val="FFFFFF"/>
                </a:solidFill>
                <a:latin typeface="Montserrat" panose="00000500000000000000" pitchFamily="2" charset="0"/>
              </a:rPr>
              <a:t>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72271" y="5501420"/>
            <a:ext cx="3516738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1" dirty="0">
                <a:solidFill>
                  <a:srgbClr val="0F2C59"/>
                </a:solidFill>
                <a:latin typeface="Montserrat" panose="00000500000000000000" pitchFamily="2" charset="0"/>
              </a:rPr>
              <a:t>Confidence Factors</a:t>
            </a:r>
          </a:p>
        </p:txBody>
      </p:sp>
      <p:sp>
        <p:nvSpPr>
          <p:cNvPr id="58" name="Oval 57"/>
          <p:cNvSpPr/>
          <p:nvPr/>
        </p:nvSpPr>
        <p:spPr>
          <a:xfrm>
            <a:off x="6605284" y="6048662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7912" y="6034946"/>
            <a:ext cx="3475590" cy="198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90" b="1">
                <a:solidFill>
                  <a:srgbClr val="0F2C59"/>
                </a:solidFill>
                <a:latin typeface="Montserrat" panose="00000500000000000000" pitchFamily="2" charset="0"/>
              </a:rPr>
              <a:t>Quantity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7912" y="6233828"/>
            <a:ext cx="3475590" cy="170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>
                <a:solidFill>
                  <a:srgbClr val="5A6473"/>
                </a:solidFill>
                <a:latin typeface="Montserrat" panose="00000500000000000000" pitchFamily="2" charset="0"/>
              </a:rPr>
              <a:t>(Volume)</a:t>
            </a:r>
          </a:p>
        </p:txBody>
      </p:sp>
      <p:sp>
        <p:nvSpPr>
          <p:cNvPr id="61" name="Oval 60"/>
          <p:cNvSpPr/>
          <p:nvPr/>
        </p:nvSpPr>
        <p:spPr>
          <a:xfrm>
            <a:off x="6605284" y="6480717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7912" y="6467001"/>
            <a:ext cx="3475590" cy="198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Reliability</a:t>
            </a: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 Score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57912" y="6665882"/>
            <a:ext cx="3475590" cy="170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dirty="0">
                <a:solidFill>
                  <a:srgbClr val="5A6473"/>
                </a:solidFill>
                <a:latin typeface="Montserrat" panose="00000500000000000000" pitchFamily="2" charset="0"/>
              </a:rPr>
              <a:t>(</a:t>
            </a:r>
            <a:r>
              <a:rPr lang="en-US" sz="1110" dirty="0">
                <a:solidFill>
                  <a:srgbClr val="5A6473"/>
                </a:solidFill>
                <a:latin typeface="Montserrat" panose="00000500000000000000" pitchFamily="2" charset="0"/>
              </a:rPr>
              <a:t>Distinct Semi, Worker Process</a:t>
            </a:r>
            <a:r>
              <a:rPr sz="1110" dirty="0">
                <a:solidFill>
                  <a:srgbClr val="5A6473"/>
                </a:solidFill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64" name="Oval 63"/>
          <p:cNvSpPr/>
          <p:nvPr/>
        </p:nvSpPr>
        <p:spPr>
          <a:xfrm>
            <a:off x="6605284" y="6912770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7912" y="6899054"/>
            <a:ext cx="3475590" cy="198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Stability Score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7912" y="7097936"/>
            <a:ext cx="3475590" cy="170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dirty="0">
                <a:solidFill>
                  <a:srgbClr val="5A6473"/>
                </a:solidFill>
                <a:latin typeface="Montserrat" panose="00000500000000000000" pitchFamily="2" charset="0"/>
              </a:rPr>
              <a:t>(Consistency)</a:t>
            </a:r>
          </a:p>
        </p:txBody>
      </p:sp>
      <p:sp>
        <p:nvSpPr>
          <p:cNvPr id="67" name="Oval 66"/>
          <p:cNvSpPr/>
          <p:nvPr/>
        </p:nvSpPr>
        <p:spPr>
          <a:xfrm>
            <a:off x="6605284" y="7344825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7912" y="7331109"/>
            <a:ext cx="3475590" cy="198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History Score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57912" y="7529990"/>
            <a:ext cx="3475590" cy="170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>
                <a:solidFill>
                  <a:srgbClr val="5A6473"/>
                </a:solidFill>
                <a:latin typeface="Montserrat" panose="00000500000000000000" pitchFamily="2" charset="0"/>
              </a:rPr>
              <a:t>(Track record)</a:t>
            </a:r>
          </a:p>
        </p:txBody>
      </p:sp>
      <p:sp>
        <p:nvSpPr>
          <p:cNvPr id="70" name="Oval 69"/>
          <p:cNvSpPr/>
          <p:nvPr/>
        </p:nvSpPr>
        <p:spPr>
          <a:xfrm>
            <a:off x="6605284" y="7776878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57912" y="7763162"/>
            <a:ext cx="3475590" cy="198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Coverage Score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7912" y="7962044"/>
            <a:ext cx="3475590" cy="170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>
                <a:solidFill>
                  <a:srgbClr val="5A6473"/>
                </a:solidFill>
                <a:latin typeface="Montserrat" panose="00000500000000000000" pitchFamily="2" charset="0"/>
              </a:rPr>
              <a:t>(Scope)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134272" y="5336252"/>
            <a:ext cx="7600515" cy="29482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0347176" y="5431536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 dirty="0">
                <a:solidFill>
                  <a:srgbClr val="FFFFFF"/>
                </a:solidFill>
                <a:latin typeface="Montserrat" panose="00000500000000000000" pitchFamily="2" charset="0"/>
              </a:rPr>
              <a:t>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40952" y="5482886"/>
            <a:ext cx="6715528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50" b="1" dirty="0">
                <a:solidFill>
                  <a:srgbClr val="0F2C59"/>
                </a:solidFill>
                <a:latin typeface="Montserrat" panose="00000500000000000000" pitchFamily="2" charset="0"/>
              </a:rPr>
              <a:t>Example Output - Suggest Skill (v1) and Confident Score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988110"/>
              </p:ext>
            </p:extLst>
          </p:nvPr>
        </p:nvGraphicFramePr>
        <p:xfrm>
          <a:off x="10337619" y="5848303"/>
          <a:ext cx="7218861" cy="225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3733639267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2127796729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2976256417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3286796939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916595482"/>
                    </a:ext>
                  </a:extLst>
                </a:gridCol>
              </a:tblGrid>
              <a:tr h="353690">
                <a:tc rowSpan="2"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Sanding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Polishing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Soldering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Stone Setting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2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Suggest Skill </a:t>
                      </a:r>
                      <a:endParaRPr sz="1050" b="0" dirty="0">
                        <a:ln w="12700">
                          <a:solidFill>
                            <a:schemeClr val="bg2"/>
                          </a:solidFill>
                        </a:ln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Confidence %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Suggest Skill </a:t>
                      </a:r>
                      <a:endParaRPr sz="1050" b="0" dirty="0">
                        <a:ln w="12700">
                          <a:solidFill>
                            <a:schemeClr val="bg2"/>
                          </a:solidFill>
                        </a:ln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Confidence %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Suggest Skill </a:t>
                      </a:r>
                      <a:endParaRPr sz="1050" b="0" dirty="0">
                        <a:ln w="12700">
                          <a:solidFill>
                            <a:schemeClr val="bg2"/>
                          </a:solidFill>
                        </a:ln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Confidence %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Suggest Skill </a:t>
                      </a:r>
                      <a:endParaRPr sz="1050" b="0" dirty="0">
                        <a:ln w="12700">
                          <a:solidFill>
                            <a:schemeClr val="bg2"/>
                          </a:solidFill>
                        </a:ln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n w="12700">
                            <a:solidFill>
                              <a:schemeClr val="bg2"/>
                            </a:solidFill>
                          </a:ln>
                          <a:solidFill>
                            <a:srgbClr val="FFFFFF"/>
                          </a:solidFill>
                          <a:latin typeface="Calibri"/>
                        </a:rPr>
                        <a:t>Confidence %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003299"/>
                  </a:ext>
                </a:extLst>
              </a:tr>
              <a:tr h="503924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E00022 - Vũ Thị Duyên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7.8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99%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7.6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80%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8.0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97%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924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E000152 – </a:t>
                      </a:r>
                      <a:r>
                        <a:rPr lang="en-US" sz="14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Trần</a:t>
                      </a: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 Thị Vân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9.4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88%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9.5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94%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4.3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23%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9.6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70%</a:t>
                      </a:r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24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E000752 – Nguyễn Thị </a:t>
                      </a:r>
                      <a:r>
                        <a:rPr lang="en-US" sz="14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Thủy</a:t>
                      </a:r>
                      <a:endParaRPr lang="en-US"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5.4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" name="Rounded Rectangle 78"/>
          <p:cNvSpPr/>
          <p:nvPr/>
        </p:nvSpPr>
        <p:spPr>
          <a:xfrm>
            <a:off x="548640" y="8449057"/>
            <a:ext cx="5564124" cy="116928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726948" y="859993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61872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Key Benefits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0392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Transparent &amp; explainable calculation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Consistent skill estimation across workers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59652" y="8449057"/>
            <a:ext cx="5564124" cy="116928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6537960" y="8599932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2884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F59E0B"/>
                </a:solidFill>
                <a:latin typeface="Montserrat" panose="00000500000000000000" pitchFamily="2" charset="0"/>
              </a:rPr>
              <a:t>Success Criteria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61404" y="9107424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F59E0B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Rankings reasonable vs. Planner perception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F59E0B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No extreme deviation (&gt;30-40%) without explanation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2170664" y="8449058"/>
            <a:ext cx="5564124" cy="116928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12348971" y="8599932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883896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EF4444"/>
                </a:solidFill>
                <a:latin typeface="Montserrat" panose="00000500000000000000" pitchFamily="2" charset="0"/>
              </a:rPr>
              <a:t>Risks &amp; Mitigation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472416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Extreme deviation → review data/formulas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Low confidence → extend time range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38912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000" y="384048"/>
            <a:ext cx="1001268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>
                <a:solidFill>
                  <a:srgbClr val="0F2C59"/>
                </a:solidFill>
                <a:latin typeface="Montserrat" panose="00000500000000000000" pitchFamily="2" charset="0"/>
              </a:rPr>
              <a:t>CERTIFIED SKILL (PLANNER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042416"/>
            <a:ext cx="1001268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dirty="0">
                <a:solidFill>
                  <a:srgbClr val="10B981"/>
                </a:solidFill>
                <a:latin typeface="Montserrat" panose="00000500000000000000" pitchFamily="2" charset="0"/>
              </a:rPr>
              <a:t>(</a:t>
            </a:r>
            <a:r>
              <a:rPr lang="en-US" sz="1950" b="1" dirty="0">
                <a:solidFill>
                  <a:srgbClr val="10B981"/>
                </a:solidFill>
                <a:latin typeface="Montserrat" panose="00000500000000000000" pitchFamily="2" charset="0"/>
              </a:rPr>
              <a:t>Completed</a:t>
            </a:r>
            <a:r>
              <a:rPr sz="1950" b="1" dirty="0">
                <a:solidFill>
                  <a:srgbClr val="10B981"/>
                </a:solidFill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481328"/>
            <a:ext cx="10561320" cy="244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>
                <a:solidFill>
                  <a:srgbClr val="5A6473"/>
                </a:solidFill>
                <a:latin typeface="Montserrat" panose="00000500000000000000" pitchFamily="2" charset="0"/>
              </a:rPr>
              <a:t>Planner reviews and finalizes Suggest Skill to become the official Certified Skill, stored for continuous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96060" y="384048"/>
            <a:ext cx="3497580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81861" y="466344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15516" y="864109"/>
            <a:ext cx="3058668" cy="793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Ensure accuracy and consistency of Suggest Skill through Planner review and approval to create the official Certified Skill (v1).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1" y="2441447"/>
            <a:ext cx="7042094" cy="273109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95528" y="2688336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5" y="2722375"/>
            <a:ext cx="6054542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Review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3236976"/>
            <a:ext cx="1410765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212875" y="3332987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22776"/>
            <a:ext cx="1246173" cy="203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Suggest 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556768"/>
            <a:ext cx="1191309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(with breakdown)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20009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508045" y="3236975"/>
            <a:ext cx="1410765" cy="17830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925392" y="3332987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1759" y="3922777"/>
            <a:ext cx="1410765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Planner Review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&amp; Adjust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134" y="4556768"/>
            <a:ext cx="1191309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Compare with perception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932526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220562" y="3236976"/>
            <a:ext cx="1410765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637910" y="3332987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4278" y="3922776"/>
            <a:ext cx="1397049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Approve /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Adjust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0289" y="4509016"/>
            <a:ext cx="1191309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Input reason if overridden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645045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933081" y="3236976"/>
            <a:ext cx="1410765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350427" y="3332987"/>
            <a:ext cx="576072" cy="5760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9365" y="3922777"/>
            <a:ext cx="142448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Certified Skill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Stored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42808" y="4539324"/>
            <a:ext cx="1191309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Ready for Phase </a:t>
            </a:r>
            <a:r>
              <a:rPr lang="en-US" sz="1155" dirty="0">
                <a:solidFill>
                  <a:srgbClr val="5A6473"/>
                </a:solidFill>
                <a:latin typeface="Montserrat" panose="00000500000000000000" pitchFamily="2" charset="0"/>
              </a:rPr>
              <a:t>4</a:t>
            </a:r>
            <a:endParaRPr sz="1155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837622" y="2441448"/>
            <a:ext cx="5216366" cy="25786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111942" y="2715768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718" y="2749807"/>
            <a:ext cx="417395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Review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9374" y="3201318"/>
            <a:ext cx="4640294" cy="14288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33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35" dirty="0">
                <a:solidFill>
                  <a:srgbClr val="1E293B"/>
                </a:solidFill>
                <a:latin typeface="Montserrat" panose="00000500000000000000" pitchFamily="2" charset="0"/>
              </a:rPr>
              <a:t>Compare Suggest Skill (v1) with Planner perception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33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35" dirty="0">
                <a:solidFill>
                  <a:srgbClr val="1E293B"/>
                </a:solidFill>
                <a:latin typeface="Montserrat" panose="00000500000000000000" pitchFamily="2" charset="0"/>
              </a:rPr>
              <a:t>Adjust if necessary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33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35" dirty="0">
                <a:solidFill>
                  <a:srgbClr val="1E293B"/>
                </a:solidFill>
                <a:latin typeface="Montserrat" panose="00000500000000000000" pitchFamily="2" charset="0"/>
              </a:rPr>
              <a:t>Input adjustment reason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33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35" dirty="0">
                <a:solidFill>
                  <a:srgbClr val="1E293B"/>
                </a:solidFill>
                <a:latin typeface="Montserrat" panose="00000500000000000000" pitchFamily="2" charset="0"/>
              </a:rPr>
              <a:t>Approve and confirm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33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35" dirty="0">
                <a:solidFill>
                  <a:srgbClr val="1E293B"/>
                </a:solidFill>
                <a:latin typeface="Montserrat" panose="00000500000000000000" pitchFamily="2" charset="0"/>
              </a:rPr>
              <a:t>Move to Certified Skill (v1)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300877" y="2441448"/>
            <a:ext cx="4433910" cy="25786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3575197" y="2715768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68973" y="2749807"/>
            <a:ext cx="3391494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88913" y="3213718"/>
            <a:ext cx="3857838" cy="9361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03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303" b="1" dirty="0">
                <a:solidFill>
                  <a:srgbClr val="1E293B"/>
                </a:solidFill>
                <a:latin typeface="Montserrat" panose="00000500000000000000" pitchFamily="2" charset="0"/>
              </a:rPr>
              <a:t>Certified Skill (v1): </a:t>
            </a:r>
            <a:r>
              <a:rPr sz="1303" dirty="0">
                <a:solidFill>
                  <a:srgbClr val="5A6473"/>
                </a:solidFill>
                <a:latin typeface="Montserrat" panose="00000500000000000000" pitchFamily="2" charset="0"/>
              </a:rPr>
              <a:t>final approved score, breakdown, review log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03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303" b="1" dirty="0">
                <a:solidFill>
                  <a:srgbClr val="1E293B"/>
                </a:solidFill>
                <a:latin typeface="Montserrat" panose="00000500000000000000" pitchFamily="2" charset="0"/>
              </a:rPr>
              <a:t>Skill Database: </a:t>
            </a:r>
            <a:r>
              <a:rPr sz="1303" dirty="0">
                <a:solidFill>
                  <a:srgbClr val="5A6473"/>
                </a:solidFill>
                <a:latin typeface="Montserrat" panose="00000500000000000000" pitchFamily="2" charset="0"/>
              </a:rPr>
              <a:t>centralized, version-controlled, ready for Phase </a:t>
            </a:r>
            <a:r>
              <a:rPr lang="en-US" sz="1303" dirty="0">
                <a:solidFill>
                  <a:srgbClr val="5A6473"/>
                </a:solidFill>
                <a:latin typeface="Montserrat" panose="00000500000000000000" pitchFamily="2" charset="0"/>
              </a:rPr>
              <a:t>4</a:t>
            </a:r>
            <a:endParaRPr sz="1303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48640" y="5258479"/>
            <a:ext cx="10539984" cy="280069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95528" y="5458968"/>
            <a:ext cx="356616" cy="3566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9304" y="5498776"/>
            <a:ext cx="95524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0F2C59"/>
                </a:solidFill>
                <a:latin typeface="Montserrat" panose="00000500000000000000" pitchFamily="2" charset="0"/>
              </a:rPr>
              <a:t>Review KPIs</a:t>
            </a:r>
          </a:p>
        </p:txBody>
      </p:sp>
      <p:sp>
        <p:nvSpPr>
          <p:cNvPr id="46" name="Oval 45"/>
          <p:cNvSpPr/>
          <p:nvPr/>
        </p:nvSpPr>
        <p:spPr>
          <a:xfrm>
            <a:off x="1481937" y="61310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" y="6775705"/>
            <a:ext cx="2058618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>
                <a:solidFill>
                  <a:srgbClr val="0F2C59"/>
                </a:solidFill>
                <a:latin typeface="Montserrat" panose="00000500000000000000" pitchFamily="2" charset="0"/>
              </a:rPr>
              <a:t>% Match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" y="7159753"/>
            <a:ext cx="205861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dirty="0">
                <a:solidFill>
                  <a:srgbClr val="5A6473"/>
                </a:solidFill>
                <a:latin typeface="Montserrat" panose="00000500000000000000" pitchFamily="2" charset="0"/>
              </a:rPr>
              <a:t>±10%</a:t>
            </a:r>
          </a:p>
        </p:txBody>
      </p:sp>
      <p:sp>
        <p:nvSpPr>
          <p:cNvPr id="49" name="Oval 48"/>
          <p:cNvSpPr/>
          <p:nvPr/>
        </p:nvSpPr>
        <p:spPr>
          <a:xfrm>
            <a:off x="3513125" y="61310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58134" y="6775705"/>
            <a:ext cx="2058618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dirty="0">
                <a:solidFill>
                  <a:srgbClr val="0F2C59"/>
                </a:solidFill>
                <a:latin typeface="Montserrat" panose="00000500000000000000" pitchFamily="2" charset="0"/>
              </a:rPr>
              <a:t>% Override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58134" y="7159753"/>
            <a:ext cx="205861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>
                <a:solidFill>
                  <a:srgbClr val="5A6473"/>
                </a:solidFill>
                <a:latin typeface="Montserrat" panose="00000500000000000000" pitchFamily="2" charset="0"/>
              </a:rPr>
              <a:t>Target &lt; 15%</a:t>
            </a:r>
          </a:p>
        </p:txBody>
      </p:sp>
      <p:sp>
        <p:nvSpPr>
          <p:cNvPr id="52" name="Oval 51"/>
          <p:cNvSpPr/>
          <p:nvPr/>
        </p:nvSpPr>
        <p:spPr>
          <a:xfrm>
            <a:off x="5544312" y="61310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9322" y="6775705"/>
            <a:ext cx="2058618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dirty="0">
                <a:solidFill>
                  <a:srgbClr val="0F2C59"/>
                </a:solidFill>
                <a:latin typeface="Montserrat" panose="00000500000000000000" pitchFamily="2" charset="0"/>
              </a:rPr>
              <a:t>Review Cycle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89322" y="7159753"/>
            <a:ext cx="205861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dirty="0">
                <a:solidFill>
                  <a:srgbClr val="5A6473"/>
                </a:solidFill>
                <a:latin typeface="Montserrat" panose="00000500000000000000" pitchFamily="2" charset="0"/>
              </a:rPr>
              <a:t>Set</a:t>
            </a:r>
            <a:r>
              <a:rPr lang="en-US" sz="1080" dirty="0">
                <a:solidFill>
                  <a:srgbClr val="5A6473"/>
                </a:solidFill>
                <a:latin typeface="Montserrat" panose="00000500000000000000" pitchFamily="2" charset="0"/>
              </a:rPr>
              <a:t> and Monitor </a:t>
            </a:r>
            <a:r>
              <a:rPr sz="1080" dirty="0">
                <a:solidFill>
                  <a:srgbClr val="5A6473"/>
                </a:solidFill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55" name="Oval 54"/>
          <p:cNvSpPr/>
          <p:nvPr/>
        </p:nvSpPr>
        <p:spPr>
          <a:xfrm>
            <a:off x="7575498" y="61310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20509" y="6775705"/>
            <a:ext cx="2058618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>
                <a:solidFill>
                  <a:srgbClr val="0F2C59"/>
                </a:solidFill>
                <a:latin typeface="Montserrat" panose="00000500000000000000" pitchFamily="2" charset="0"/>
              </a:rPr>
              <a:t>Approved Volume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0509" y="7159753"/>
            <a:ext cx="205861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>
                <a:solidFill>
                  <a:srgbClr val="5A6473"/>
                </a:solidFill>
                <a:latin typeface="Montserrat" panose="00000500000000000000" pitchFamily="2" charset="0"/>
              </a:rPr>
              <a:t>Tracked</a:t>
            </a:r>
          </a:p>
        </p:txBody>
      </p:sp>
      <p:sp>
        <p:nvSpPr>
          <p:cNvPr id="58" name="Oval 57"/>
          <p:cNvSpPr/>
          <p:nvPr/>
        </p:nvSpPr>
        <p:spPr>
          <a:xfrm>
            <a:off x="9606686" y="61310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51697" y="6775705"/>
            <a:ext cx="2058618" cy="17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dirty="0">
                <a:solidFill>
                  <a:srgbClr val="0F2C59"/>
                </a:solidFill>
                <a:latin typeface="Montserrat" panose="00000500000000000000" pitchFamily="2" charset="0"/>
              </a:rPr>
              <a:t>Benchmark </a:t>
            </a:r>
            <a:r>
              <a:rPr sz="1140" b="1" dirty="0" err="1">
                <a:solidFill>
                  <a:srgbClr val="0F2C59"/>
                </a:solidFill>
                <a:latin typeface="Montserrat" panose="00000500000000000000" pitchFamily="2" charset="0"/>
              </a:rPr>
              <a:t>Maint</a:t>
            </a:r>
            <a:r>
              <a:rPr lang="en-US" sz="1140" b="1" dirty="0" err="1">
                <a:solidFill>
                  <a:srgbClr val="0F2C59"/>
                </a:solidFill>
                <a:latin typeface="Montserrat" panose="00000500000000000000" pitchFamily="2" charset="0"/>
              </a:rPr>
              <a:t>ainance</a:t>
            </a:r>
            <a:endParaRPr sz="1140" b="1" dirty="0">
              <a:solidFill>
                <a:srgbClr val="0F2C59"/>
              </a:solidFill>
              <a:latin typeface="Montserrat" panose="00000500000000000000" pitchFamily="2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851697" y="7159753"/>
            <a:ext cx="205861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dirty="0">
                <a:solidFill>
                  <a:srgbClr val="5A6473"/>
                </a:solidFill>
                <a:latin typeface="Montserrat" panose="00000500000000000000" pitchFamily="2" charset="0"/>
              </a:rPr>
              <a:t>Quarterly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9" y="7680960"/>
            <a:ext cx="1004620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i="1" dirty="0">
                <a:solidFill>
                  <a:srgbClr val="5A6473"/>
                </a:solidFill>
                <a:latin typeface="Montserrat" panose="00000500000000000000" pitchFamily="2" charset="0"/>
              </a:rPr>
              <a:t>All adjustments must include a documented reason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335511" y="5239512"/>
            <a:ext cx="6399276" cy="28196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1609831" y="5513831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03607" y="5547869"/>
            <a:ext cx="5356860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Key Benefits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23547" y="6085049"/>
            <a:ext cx="5823204" cy="1152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2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20" dirty="0">
                <a:solidFill>
                  <a:srgbClr val="1E293B"/>
                </a:solidFill>
                <a:latin typeface="Montserrat" panose="00000500000000000000" pitchFamily="2" charset="0"/>
              </a:rPr>
              <a:t>High accuracy through human validation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2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20" dirty="0">
                <a:solidFill>
                  <a:srgbClr val="1E293B"/>
                </a:solidFill>
                <a:latin typeface="Montserrat" panose="00000500000000000000" pitchFamily="2" charset="0"/>
              </a:rPr>
              <a:t>Consistency across planners and processes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2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20" dirty="0">
                <a:solidFill>
                  <a:srgbClr val="1E293B"/>
                </a:solidFill>
                <a:latin typeface="Montserrat" panose="00000500000000000000" pitchFamily="2" charset="0"/>
              </a:rPr>
              <a:t>Reliable Certified Skill for decision making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2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20" dirty="0">
                <a:solidFill>
                  <a:srgbClr val="1E293B"/>
                </a:solidFill>
                <a:latin typeface="Montserrat" panose="00000500000000000000" pitchFamily="2" charset="0"/>
              </a:rPr>
              <a:t>Foundation for continuous improvement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8213639"/>
            <a:ext cx="9574364" cy="136029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731837" y="8366976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6762" y="8394409"/>
            <a:ext cx="861424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 dirty="0">
                <a:solidFill>
                  <a:srgbClr val="EF4444"/>
                </a:solidFill>
                <a:latin typeface="Montserrat" panose="00000500000000000000" pitchFamily="2" charset="0"/>
              </a:rPr>
              <a:t>Risks &amp; Mitigation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5282" y="8874468"/>
            <a:ext cx="9025724" cy="67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Planner subjectivity → clear guidelines &amp; reference data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Inconsistent adjustment → training &amp; calibration sessions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Delay in review → set </a:t>
            </a:r>
            <a:r>
              <a:rPr lang="en-US" sz="1245" dirty="0">
                <a:solidFill>
                  <a:srgbClr val="1E293B"/>
                </a:solidFill>
                <a:latin typeface="Montserrat" panose="00000500000000000000" pitchFamily="2" charset="0"/>
              </a:rPr>
              <a:t>a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nd monitor cycle time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69892" y="8216101"/>
            <a:ext cx="7364895" cy="136029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10548200" y="836697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83124" y="8394409"/>
            <a:ext cx="6404775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Success Criteria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71644" y="8874468"/>
            <a:ext cx="6816255" cy="4299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≥ 90% of Suggest Skills reviewed within SLA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10B981"/>
                </a:solidFill>
                <a:latin typeface="Montserrat" panose="00000500000000000000" pitchFamily="2" charset="0"/>
              </a:rPr>
              <a:t>•  •  </a:t>
            </a:r>
            <a:r>
              <a:rPr sz="1245" dirty="0">
                <a:solidFill>
                  <a:srgbClr val="1E293B"/>
                </a:solidFill>
                <a:latin typeface="Montserrat" panose="00000500000000000000" pitchFamily="2" charset="0"/>
              </a:rPr>
              <a:t>Certified Skill (v1) stored and ready for Phase </a:t>
            </a:r>
            <a:r>
              <a:rPr lang="en-US" sz="1245" dirty="0">
                <a:solidFill>
                  <a:srgbClr val="1E293B"/>
                </a:solidFill>
                <a:latin typeface="Montserrat" panose="00000500000000000000" pitchFamily="2" charset="0"/>
              </a:rPr>
              <a:t>4</a:t>
            </a:r>
            <a:endParaRPr sz="1245" dirty="0">
              <a:solidFill>
                <a:srgbClr val="1E293B"/>
              </a:solidFill>
              <a:latin typeface="Montserrat" panose="00000500000000000000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561077-2514-68F0-4208-F85054EEE039}"/>
              </a:ext>
            </a:extLst>
          </p:cNvPr>
          <p:cNvGrpSpPr/>
          <p:nvPr/>
        </p:nvGrpSpPr>
        <p:grpSpPr>
          <a:xfrm>
            <a:off x="14340079" y="404622"/>
            <a:ext cx="438912" cy="438912"/>
            <a:chOff x="14340079" y="404622"/>
            <a:chExt cx="438912" cy="43891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863FA-6056-44CB-9DA7-A21CA2EA5CC9}"/>
                </a:ext>
              </a:extLst>
            </p:cNvPr>
            <p:cNvSpPr/>
            <p:nvPr/>
          </p:nvSpPr>
          <p:spPr>
            <a:xfrm>
              <a:off x="14340079" y="404622"/>
              <a:ext cx="438912" cy="4389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sz="1950" b="1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E84278C-FDDE-7F3F-FB20-B4A862577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5123" r="24516" b="12911"/>
            <a:stretch>
              <a:fillRect/>
            </a:stretch>
          </p:blipFill>
          <p:spPr>
            <a:xfrm>
              <a:off x="14377988" y="404622"/>
              <a:ext cx="366713" cy="402622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38912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000" y="384048"/>
            <a:ext cx="10198948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CAPABILITY MODEL</a:t>
            </a:r>
            <a:r>
              <a:rPr lang="en-US"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 &amp; SUGGESTED COMPLEXITY</a:t>
            </a:r>
            <a:endParaRPr sz="3750" b="1" dirty="0">
              <a:solidFill>
                <a:srgbClr val="0F2C59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9000" y="1481328"/>
            <a:ext cx="10561320" cy="49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 dirty="0">
                <a:solidFill>
                  <a:srgbClr val="5A6473"/>
                </a:solidFill>
                <a:latin typeface="Montserrat" panose="00000500000000000000" pitchFamily="2" charset="0"/>
              </a:rPr>
              <a:t>Build a capability model based on worker effort to estimate semi production effort and generate Suggested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96060" y="384048"/>
            <a:ext cx="3497580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81861" y="466344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15516" y="864109"/>
            <a:ext cx="3058668" cy="79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Translate worker capabilities into expected effort and define Suggested Complexity to bridge worker skills and technical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3503337" cy="29379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715768"/>
            <a:ext cx="356616" cy="3566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Input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286987"/>
            <a:ext cx="2927265" cy="180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Certified Skill (v1):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score for each worker by process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Production History: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actual time, quantity, process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Process Information: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standard, flow, routing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Material &amp; Semi Data: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type, weight, dimension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8866" y="2441447"/>
            <a:ext cx="9685697" cy="289433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545753" y="2688336"/>
            <a:ext cx="356616" cy="3566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530" y="2722375"/>
            <a:ext cx="8698145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5754" y="3236975"/>
            <a:ext cx="1596983" cy="19806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056208" y="3332987"/>
            <a:ext cx="576072" cy="5760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8050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Data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Preparation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5482" y="4416552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Clean, validate, aggregate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56452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4488" y="3236976"/>
            <a:ext cx="1596983" cy="198060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954942" y="3332987"/>
            <a:ext cx="576072" cy="5760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6784" y="3922777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Worker Effect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Estimation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4216" y="4416553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Calculate by process &amp; semi item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55186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43223" y="3236975"/>
            <a:ext cx="1596983" cy="198060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853678" y="3332987"/>
            <a:ext cx="576072" cy="5760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5519" y="3922777"/>
            <a:ext cx="1432391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Semi Production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Effort Calc.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2950" y="4626423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Estimate effort using worker effect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953921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241957" y="3236975"/>
            <a:ext cx="1596983" cy="19631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752413" y="3332987"/>
            <a:ext cx="576072" cy="5760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4253" y="3922777"/>
            <a:ext cx="1432391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Suggested</a:t>
            </a:r>
          </a:p>
          <a:p>
            <a:pPr algn="ctr">
              <a:lnSpc>
                <a:spcPct val="95000"/>
              </a:lnSpc>
            </a:pPr>
            <a:r>
              <a:rPr sz="1395" b="1" dirty="0">
                <a:solidFill>
                  <a:srgbClr val="0F2C59"/>
                </a:solidFill>
                <a:latin typeface="Montserrat" panose="00000500000000000000" pitchFamily="2" charset="0"/>
              </a:rPr>
              <a:t>Complexity Gen.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685" y="4586440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Map effort to complexity scale (1–10)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1852655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2140692" y="3236976"/>
            <a:ext cx="1596983" cy="19631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2651147" y="3332987"/>
            <a:ext cx="576072" cy="5760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22988" y="3922777"/>
            <a:ext cx="1432391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Engineering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Review &amp; Approval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9438" y="4626423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Validate &amp; approve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31450" y="2441447"/>
            <a:ext cx="3503337" cy="2850401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4505770" y="2715768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9954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Key 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533202" y="3257246"/>
            <a:ext cx="2927265" cy="16089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Worker Effect: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by process &amp; semi item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Semi Production Effort: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estimated minutes/pc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Suggested Complexity: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score 1–10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Capability Database: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centralized, versioned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1" y="5551844"/>
            <a:ext cx="11413546" cy="2732620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95529" y="564044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f(x)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1" y="5692599"/>
            <a:ext cx="662981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1" dirty="0">
                <a:solidFill>
                  <a:srgbClr val="0F2C59"/>
                </a:solidFill>
                <a:latin typeface="Montserrat" panose="00000500000000000000" pitchFamily="2" charset="0"/>
              </a:rPr>
              <a:t>Worker Effect </a:t>
            </a:r>
            <a:r>
              <a:rPr lang="en-US" b="1" dirty="0">
                <a:solidFill>
                  <a:srgbClr val="0F2C59"/>
                </a:solidFill>
                <a:latin typeface="Montserrat" panose="00000500000000000000" pitchFamily="2" charset="0"/>
              </a:rPr>
              <a:t>and Capability </a:t>
            </a:r>
            <a:r>
              <a:rPr b="1" dirty="0">
                <a:solidFill>
                  <a:srgbClr val="0F2C59"/>
                </a:solidFill>
                <a:latin typeface="Montserrat" panose="00000500000000000000" pitchFamily="2" charset="0"/>
              </a:rPr>
              <a:t>Model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8" y="6116239"/>
            <a:ext cx="10933684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 dirty="0">
              <a:latin typeface="Montserrat" panose="00000500000000000000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5311" y="6218637"/>
            <a:ext cx="7013864" cy="595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Actual Time Doing = Production Effort + Worker Effect + Error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Production Effort = Work Content + Technical Difficulty 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Worker Effect = Actual Time / Expected Time (Benchmark)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6998290"/>
            <a:ext cx="10961116" cy="11850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</a:t>
            </a:r>
            <a:r>
              <a:rPr lang="en-US" sz="1228" b="1" dirty="0">
                <a:solidFill>
                  <a:srgbClr val="002060"/>
                </a:solidFill>
                <a:latin typeface="Montserrat" panose="00000500000000000000" pitchFamily="2" charset="0"/>
              </a:rPr>
              <a:t> Production Effort: </a:t>
            </a:r>
            <a:r>
              <a:rPr lang="en-US" sz="1228" dirty="0">
                <a:solidFill>
                  <a:srgbClr val="002060"/>
                </a:solidFill>
                <a:latin typeface="Montserrat" panose="00000500000000000000" pitchFamily="2" charset="0"/>
              </a:rPr>
              <a:t>T</a:t>
            </a:r>
            <a:r>
              <a:rPr lang="en-US" sz="1228" dirty="0">
                <a:solidFill>
                  <a:srgbClr val="1E293B"/>
                </a:solidFill>
                <a:latin typeface="Montserrat" panose="00000500000000000000" pitchFamily="2" charset="0"/>
              </a:rPr>
              <a:t>he amount of effort required by the production task itself, regardless of who performs it.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</a:t>
            </a:r>
            <a:r>
              <a:rPr lang="en-US" sz="1228" b="1" dirty="0">
                <a:solidFill>
                  <a:srgbClr val="002060"/>
                </a:solidFill>
                <a:latin typeface="Montserrat" panose="00000500000000000000" pitchFamily="2" charset="0"/>
              </a:rPr>
              <a:t> Work Content: </a:t>
            </a:r>
            <a:r>
              <a:rPr lang="en-US" sz="1228" dirty="0">
                <a:solidFill>
                  <a:schemeClr val="bg1">
                    <a:lumMod val="10000"/>
                  </a:schemeClr>
                </a:solidFill>
                <a:latin typeface="Montserrat" panose="00000500000000000000" pitchFamily="2" charset="0"/>
              </a:rPr>
              <a:t>The amount of work required to complete the Semi, based on its quantity, operations, and quoted hours.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</a:t>
            </a:r>
            <a:r>
              <a:rPr lang="en-US" sz="1228" b="1" dirty="0">
                <a:solidFill>
                  <a:srgbClr val="002060"/>
                </a:solidFill>
                <a:latin typeface="Montserrat" panose="00000500000000000000" pitchFamily="2" charset="0"/>
              </a:rPr>
              <a:t> Technical Difficulty: </a:t>
            </a:r>
            <a:r>
              <a:rPr lang="en-US" sz="1228" dirty="0">
                <a:solidFill>
                  <a:schemeClr val="bg1">
                    <a:lumMod val="10000"/>
                  </a:schemeClr>
                </a:solidFill>
                <a:latin typeface="Montserrat" panose="00000500000000000000" pitchFamily="2" charset="0"/>
              </a:rPr>
              <a:t>The additional effort caused by a mismatch between the Semi's complexity and the worker's skill.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lang="en-US" sz="1228" b="1" dirty="0">
                <a:solidFill>
                  <a:srgbClr val="002060"/>
                </a:solidFill>
                <a:latin typeface="Montserrat" panose="00000500000000000000" pitchFamily="2" charset="0"/>
              </a:rPr>
              <a:t>Worker Effect: </a:t>
            </a:r>
            <a:r>
              <a:rPr sz="1228" dirty="0">
                <a:solidFill>
                  <a:srgbClr val="1E293B"/>
                </a:solidFill>
                <a:latin typeface="Montserrat" panose="00000500000000000000" pitchFamily="2" charset="0"/>
              </a:rPr>
              <a:t>Normalized by process, material and semi item</a:t>
            </a:r>
            <a:r>
              <a:rPr lang="en-US" sz="1228" dirty="0">
                <a:solidFill>
                  <a:srgbClr val="1E293B"/>
                </a:solidFill>
                <a:latin typeface="Montserrat" panose="00000500000000000000" pitchFamily="2" charset="0"/>
              </a:rPr>
              <a:t>, </a:t>
            </a: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 </a:t>
            </a:r>
            <a:r>
              <a:rPr sz="1228" dirty="0">
                <a:solidFill>
                  <a:srgbClr val="1E293B"/>
                </a:solidFill>
                <a:latin typeface="Montserrat" panose="00000500000000000000" pitchFamily="2" charset="0"/>
              </a:rPr>
              <a:t>Values &lt; 1: more efficient than benchmark</a:t>
            </a:r>
            <a:r>
              <a:rPr lang="en-US" sz="1228" dirty="0">
                <a:solidFill>
                  <a:srgbClr val="1E293B"/>
                </a:solidFill>
                <a:latin typeface="Montserrat" panose="00000500000000000000" pitchFamily="2" charset="0"/>
              </a:rPr>
              <a:t>, </a:t>
            </a: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 </a:t>
            </a:r>
            <a:r>
              <a:rPr sz="1228" dirty="0">
                <a:solidFill>
                  <a:srgbClr val="1E293B"/>
                </a:solidFill>
                <a:latin typeface="Montserrat" panose="00000500000000000000" pitchFamily="2" charset="0"/>
              </a:rPr>
              <a:t>Values &gt; 1: less efficient than benchmark</a:t>
            </a:r>
            <a:r>
              <a:rPr lang="en-US" sz="1228" dirty="0">
                <a:solidFill>
                  <a:srgbClr val="1E293B"/>
                </a:solidFill>
                <a:latin typeface="Montserrat" panose="00000500000000000000" pitchFamily="2" charset="0"/>
              </a:rPr>
              <a:t>, </a:t>
            </a:r>
            <a:r>
              <a:rPr sz="1228" b="1" dirty="0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sz="1228" dirty="0">
                <a:solidFill>
                  <a:srgbClr val="1E293B"/>
                </a:solidFill>
                <a:latin typeface="Montserrat" panose="00000500000000000000" pitchFamily="2" charset="0"/>
              </a:rPr>
              <a:t>Outliers are capped and smoothed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126975" y="5483870"/>
            <a:ext cx="5607812" cy="280059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12324352" y="5655957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 dirty="0">
                <a:solidFill>
                  <a:srgbClr val="FFFFFF"/>
                </a:solidFill>
                <a:latin typeface="Montserrat" panose="00000500000000000000" pitchFamily="2" charset="0"/>
              </a:rPr>
              <a:t>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760451" y="5731573"/>
            <a:ext cx="450166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dirty="0">
                <a:solidFill>
                  <a:srgbClr val="0F2C59"/>
                </a:solidFill>
                <a:latin typeface="Montserrat" panose="00000500000000000000" pitchFamily="2" charset="0"/>
              </a:rPr>
              <a:t>Suggested Complexity Scale (Example)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3298"/>
              </p:ext>
            </p:extLst>
          </p:nvPr>
        </p:nvGraphicFramePr>
        <p:xfrm>
          <a:off x="12348971" y="6227176"/>
          <a:ext cx="5221028" cy="1861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29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Effort Index Range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29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Very Simple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&lt; 0.50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29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0.50–0.80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297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  <a:latin typeface="Calibri"/>
                        </a:rPr>
                        <a:t>5–6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0.80–1.20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29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7–8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Complex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  <a:latin typeface="Calibri"/>
                        </a:rPr>
                        <a:t>1.20–1.60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29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9–10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Very Complex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E293B"/>
                          </a:solidFill>
                          <a:latin typeface="Calibri"/>
                        </a:rPr>
                        <a:t>&gt; 1.60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" name="Rounded Rectangle 57"/>
          <p:cNvSpPr/>
          <p:nvPr/>
        </p:nvSpPr>
        <p:spPr>
          <a:xfrm>
            <a:off x="548640" y="8449058"/>
            <a:ext cx="5564124" cy="11233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26948" y="859993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1872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C3AED"/>
                </a:solidFill>
                <a:latin typeface="Montserrat" panose="00000500000000000000" pitchFamily="2" charset="0"/>
              </a:rPr>
              <a:t>Key Benefits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Data-driven capability estimation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7C3AED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Reflects real worker performance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9652" y="8449058"/>
            <a:ext cx="5564124" cy="11233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537960" y="859993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72884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Success Criteria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61404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&gt; 90% semi items have Suggested Complexity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Approved complexity stored in database (v1)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170664" y="8449058"/>
            <a:ext cx="5564124" cy="11233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2348971" y="8599932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83896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EF4444"/>
                </a:solidFill>
                <a:latin typeface="Montserrat" panose="00000500000000000000" pitchFamily="2" charset="0"/>
              </a:rPr>
              <a:t>Risks &amp; Mitigation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472416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Insufficient data → strengthen validation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Model bias → outlier handling &amp; monitoring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46882B2-45E2-E4B7-9F31-EE2CE5199C80}"/>
              </a:ext>
            </a:extLst>
          </p:cNvPr>
          <p:cNvGrpSpPr/>
          <p:nvPr/>
        </p:nvGrpSpPr>
        <p:grpSpPr>
          <a:xfrm>
            <a:off x="14340079" y="404622"/>
            <a:ext cx="438912" cy="438912"/>
            <a:chOff x="14340079" y="404622"/>
            <a:chExt cx="438912" cy="43891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5A82C1F-BB6B-AE2A-DA45-A39E5F4E8B5B}"/>
                </a:ext>
              </a:extLst>
            </p:cNvPr>
            <p:cNvSpPr/>
            <p:nvPr/>
          </p:nvSpPr>
          <p:spPr>
            <a:xfrm>
              <a:off x="14340079" y="404622"/>
              <a:ext cx="438912" cy="4389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sz="1950" b="1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4AB1E9E-D7F6-8AB7-913D-44F7FA91B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5123" r="24516" b="12911"/>
            <a:stretch>
              <a:fillRect/>
            </a:stretch>
          </p:blipFill>
          <p:spPr>
            <a:xfrm>
              <a:off x="14377988" y="404622"/>
              <a:ext cx="366713" cy="402622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38912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000" y="384049"/>
            <a:ext cx="1001268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TECHNICAL COMPLEXITY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146514"/>
            <a:ext cx="10561320" cy="49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 dirty="0">
                <a:solidFill>
                  <a:srgbClr val="5A6473"/>
                </a:solidFill>
                <a:latin typeface="Montserrat" panose="00000500000000000000" pitchFamily="2" charset="0"/>
              </a:rPr>
              <a:t>Evaluate technical factors of each semi item and process to calculate Technical Complexity, independent of worker.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96060" y="384048"/>
            <a:ext cx="3497580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4360651" y="52120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81861" y="466344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15516" y="864109"/>
            <a:ext cx="3058668" cy="793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Assess technical factors to establish a consistent and objective Technical Complexity for each semi item and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3503337" cy="28835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715768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Input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271246"/>
            <a:ext cx="2927265" cy="18072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QC &amp; Quality Data: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FPY, rework, defect rate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Production Data: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cycle time variability, flow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Engineering Data: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process standard, routing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8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Historical Learning: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ramp-up, trial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8866" y="2441447"/>
            <a:ext cx="9685697" cy="28634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545753" y="2688336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530" y="2722375"/>
            <a:ext cx="8698145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Calculation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5754" y="3236976"/>
            <a:ext cx="1596983" cy="19444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056208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8050" y="3922776"/>
            <a:ext cx="1432391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Data Collection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&amp; Preparation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5480" y="4538477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Collect and validate multi-source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56452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4488" y="3236975"/>
            <a:ext cx="1596983" cy="18976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954942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6784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Factor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4216" y="4529208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Score each factor (0–10 scale)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55186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43223" y="3236976"/>
            <a:ext cx="1596983" cy="1897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853678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5519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Weighted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5340" y="4554909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Apply predefined weights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953921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241957" y="3236976"/>
            <a:ext cx="1596983" cy="1897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752413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4253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Complexity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Calculation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9117" y="4529208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Compute overall score (0–10)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1852655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2140692" y="3236976"/>
            <a:ext cx="1596983" cy="1897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2651147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22988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Approval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&amp; Publish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50419" y="4495301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 dirty="0">
                <a:solidFill>
                  <a:srgbClr val="5A6473"/>
                </a:solidFill>
                <a:latin typeface="Montserrat" panose="00000500000000000000" pitchFamily="2" charset="0"/>
              </a:rPr>
              <a:t>Review and approve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31450" y="2441448"/>
            <a:ext cx="3503337" cy="286342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4505770" y="2715768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9954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Key 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560635" y="3228103"/>
            <a:ext cx="2927265" cy="1361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28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Technical Complexity Score: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0–10 per item &amp; process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28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Complexity Grade: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Very Simple → Very Complex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228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28" b="1" dirty="0">
                <a:solidFill>
                  <a:srgbClr val="1E293B"/>
                </a:solidFill>
                <a:latin typeface="Montserrat" panose="00000500000000000000" pitchFamily="2" charset="0"/>
              </a:rPr>
              <a:t>Approved Database: </a:t>
            </a:r>
            <a:r>
              <a:rPr sz="1228" dirty="0">
                <a:solidFill>
                  <a:srgbClr val="5A6473"/>
                </a:solidFill>
                <a:latin typeface="Montserrat" panose="00000500000000000000" pitchFamily="2" charset="0"/>
              </a:rPr>
              <a:t>version-controlled, ready for Phase 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400884"/>
            <a:ext cx="17186148" cy="28835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22960" y="5523739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6736" y="5591814"/>
            <a:ext cx="16143732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dirty="0">
                <a:solidFill>
                  <a:srgbClr val="0F2C59"/>
                </a:solidFill>
                <a:latin typeface="Montserrat" panose="00000500000000000000" pitchFamily="2" charset="0"/>
              </a:rPr>
              <a:t>Technical Factors &amp; Weights (Example)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083060"/>
              </p:ext>
            </p:extLst>
          </p:nvPr>
        </p:nvGraphicFramePr>
        <p:xfrm>
          <a:off x="836679" y="6030186"/>
          <a:ext cx="16623787" cy="2034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4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3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13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FPY (First Pass Yield)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Reflects quality stability &amp; process robustness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40</a:t>
                      </a:r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0–10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Process </a:t>
                      </a:r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Part, Mechanism function</a:t>
                      </a:r>
                      <a:endParaRPr sz="1300" b="0" kern="1200" dirty="0">
                        <a:solidFill>
                          <a:srgbClr val="1E293B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Number </a:t>
                      </a:r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of part assembled, Product mechanism complexity</a:t>
                      </a: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25</a:t>
                      </a:r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0–10</a:t>
                      </a: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Material &amp; Design, Process type</a:t>
                      </a:r>
                      <a:endParaRPr sz="1300" b="0" kern="1200" dirty="0">
                        <a:solidFill>
                          <a:srgbClr val="1E293B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Material properties and design intricacy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0–10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47284"/>
                  </a:ext>
                </a:extLst>
              </a:tr>
              <a:tr h="3391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Stone Specifications &amp; Complexity</a:t>
                      </a:r>
                      <a:endParaRPr sz="1300" b="0" kern="1200" dirty="0">
                        <a:solidFill>
                          <a:srgbClr val="1E293B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Total stone count, stone types, and largest stone weight</a:t>
                      </a:r>
                      <a:endParaRPr sz="1300" b="0" kern="1200" dirty="0">
                        <a:solidFill>
                          <a:srgbClr val="1E293B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0–10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854053"/>
                  </a:ext>
                </a:extLst>
              </a:tr>
              <a:tr h="3391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Learning Curve / Ramp-up</a:t>
                      </a: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Time and effort to reach stable production</a:t>
                      </a: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300" b="0" kern="1200" dirty="0">
                          <a:solidFill>
                            <a:srgbClr val="1E293B"/>
                          </a:solidFill>
                          <a:latin typeface="Calibri"/>
                          <a:ea typeface="+mn-ea"/>
                          <a:cs typeface="+mn-cs"/>
                        </a:rPr>
                        <a:t>0–10</a:t>
                      </a:r>
                    </a:p>
                  </a:txBody>
                  <a:tcPr marL="82296" marR="82296" marT="27432" marB="27432" anchor="ctr"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" name="Rounded Rectangle 51"/>
          <p:cNvSpPr/>
          <p:nvPr/>
        </p:nvSpPr>
        <p:spPr>
          <a:xfrm>
            <a:off x="548640" y="8449057"/>
            <a:ext cx="5564124" cy="12295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726948" y="8599932"/>
            <a:ext cx="411480" cy="411480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1872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0F2C59"/>
                </a:solidFill>
                <a:latin typeface="Montserrat" panose="00000500000000000000" pitchFamily="2" charset="0"/>
              </a:rPr>
              <a:t>Key Benefits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Objective &amp; consistent evaluation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Independent of worker performance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9652" y="8449057"/>
            <a:ext cx="5564124" cy="12295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6537960" y="859993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72884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Success Criteria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1404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All items &amp; processes scored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&lt; 5% require rework after approval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170664" y="8449057"/>
            <a:ext cx="5564124" cy="12295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12348971" y="8599932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83896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EF4444"/>
                </a:solidFill>
                <a:latin typeface="Montserrat" panose="00000500000000000000" pitchFamily="2" charset="0"/>
              </a:rPr>
              <a:t>Risks &amp; Mitigation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472416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Inconsistent scoring → clear guidelines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Frequent changes → change control process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9D638-D8FE-46AB-8BF3-696656AE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5C03C-94E1-3F60-342E-B34ACB2847F1}"/>
              </a:ext>
            </a:extLst>
          </p:cNvPr>
          <p:cNvSpPr txBox="1"/>
          <p:nvPr/>
        </p:nvSpPr>
        <p:spPr>
          <a:xfrm>
            <a:off x="3429000" y="384048"/>
            <a:ext cx="10198948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TECHNICAL COMPLEXITY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B8CF4-7AED-5C01-F38E-C8F1E08A5502}"/>
              </a:ext>
            </a:extLst>
          </p:cNvPr>
          <p:cNvSpPr txBox="1"/>
          <p:nvPr/>
        </p:nvSpPr>
        <p:spPr>
          <a:xfrm>
            <a:off x="3429000" y="1165281"/>
            <a:ext cx="10561320" cy="49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575" dirty="0">
                <a:solidFill>
                  <a:srgbClr val="5A6473"/>
                </a:solidFill>
                <a:latin typeface="Montserrat" panose="00000500000000000000" pitchFamily="2" charset="0"/>
              </a:rPr>
              <a:t>Evaluate technical factors of each semi item and process to calculate Technical Complexity, independent of worker.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1969CD-934F-9F71-CDD9-491EE30E6888}"/>
              </a:ext>
            </a:extLst>
          </p:cNvPr>
          <p:cNvSpPr/>
          <p:nvPr/>
        </p:nvSpPr>
        <p:spPr>
          <a:xfrm>
            <a:off x="14196060" y="384048"/>
            <a:ext cx="3497580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A6046-EC6B-CE2F-F805-10B787F974C3}"/>
              </a:ext>
            </a:extLst>
          </p:cNvPr>
          <p:cNvSpPr txBox="1"/>
          <p:nvPr/>
        </p:nvSpPr>
        <p:spPr>
          <a:xfrm>
            <a:off x="14881861" y="466344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D79A9C-6654-75E5-3ED0-F10697D0C119}"/>
              </a:ext>
            </a:extLst>
          </p:cNvPr>
          <p:cNvSpPr txBox="1"/>
          <p:nvPr/>
        </p:nvSpPr>
        <p:spPr>
          <a:xfrm>
            <a:off x="14415516" y="864109"/>
            <a:ext cx="3058668" cy="79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Translate worker capabilities into expected effort and define Suggested Complexity to bridge worker skills and technical requirements.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11A524-D607-9098-AE35-362F3EC6DA0F}"/>
              </a:ext>
            </a:extLst>
          </p:cNvPr>
          <p:cNvSpPr/>
          <p:nvPr/>
        </p:nvSpPr>
        <p:spPr>
          <a:xfrm>
            <a:off x="548640" y="2221992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5BC4F52-7A2D-6E77-A00B-FA05A73C8C26}"/>
              </a:ext>
            </a:extLst>
          </p:cNvPr>
          <p:cNvGrpSpPr/>
          <p:nvPr/>
        </p:nvGrpSpPr>
        <p:grpSpPr>
          <a:xfrm>
            <a:off x="14340079" y="404622"/>
            <a:ext cx="438912" cy="438912"/>
            <a:chOff x="14340079" y="404622"/>
            <a:chExt cx="438912" cy="43891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7EE7DDC-AA69-30F0-0ACF-E169326E13C0}"/>
                </a:ext>
              </a:extLst>
            </p:cNvPr>
            <p:cNvSpPr/>
            <p:nvPr/>
          </p:nvSpPr>
          <p:spPr>
            <a:xfrm>
              <a:off x="14340079" y="404622"/>
              <a:ext cx="438912" cy="4389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sz="1950" b="1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1B74818E-67AA-0596-88EB-50A834E19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5123" r="24516" b="12911"/>
            <a:stretch>
              <a:fillRect/>
            </a:stretch>
          </p:blipFill>
          <p:spPr>
            <a:xfrm>
              <a:off x="14377988" y="404622"/>
              <a:ext cx="366713" cy="40262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2D3C39F-7AAD-109A-5AD0-26440F60667F}"/>
              </a:ext>
            </a:extLst>
          </p:cNvPr>
          <p:cNvSpPr txBox="1"/>
          <p:nvPr/>
        </p:nvSpPr>
        <p:spPr>
          <a:xfrm>
            <a:off x="895697" y="2776162"/>
            <a:ext cx="7013864" cy="595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Actual Time Doing = Production Effort + Worker Effect + Error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Production Effort = Work Content + Technical Difficulty 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290" b="1" dirty="0">
                <a:solidFill>
                  <a:srgbClr val="0F2C59"/>
                </a:solidFill>
                <a:latin typeface="Montserrat" panose="00000500000000000000" pitchFamily="2" charset="0"/>
              </a:rPr>
              <a:t>Worker Effect = Actual Time / Expected Time (Benchmark)</a:t>
            </a:r>
          </a:p>
        </p:txBody>
      </p:sp>
      <p:sp>
        <p:nvSpPr>
          <p:cNvPr id="11" name="Rounded Rectangle 47">
            <a:extLst>
              <a:ext uri="{FF2B5EF4-FFF2-40B4-BE49-F238E27FC236}">
                <a16:creationId xmlns:a16="http://schemas.microsoft.com/office/drawing/2014/main" id="{0F3CEE3D-7A00-E548-E9C1-572F617E2F1F}"/>
              </a:ext>
            </a:extLst>
          </p:cNvPr>
          <p:cNvSpPr/>
          <p:nvPr/>
        </p:nvSpPr>
        <p:spPr>
          <a:xfrm>
            <a:off x="548640" y="2434742"/>
            <a:ext cx="17186148" cy="715375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4" name="Rounded Rectangle 50">
            <a:extLst>
              <a:ext uri="{FF2B5EF4-FFF2-40B4-BE49-F238E27FC236}">
                <a16:creationId xmlns:a16="http://schemas.microsoft.com/office/drawing/2014/main" id="{5BDB3EAA-89DD-8296-F5B4-EBE192B208AE}"/>
              </a:ext>
            </a:extLst>
          </p:cNvPr>
          <p:cNvSpPr/>
          <p:nvPr/>
        </p:nvSpPr>
        <p:spPr>
          <a:xfrm>
            <a:off x="895695" y="2641571"/>
            <a:ext cx="8083205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Actual Time Doing = Production Effort + Worker Effect + Error</a:t>
            </a:r>
          </a:p>
        </p:txBody>
      </p:sp>
      <p:sp>
        <p:nvSpPr>
          <p:cNvPr id="78" name="Rounded Rectangle 50">
            <a:extLst>
              <a:ext uri="{FF2B5EF4-FFF2-40B4-BE49-F238E27FC236}">
                <a16:creationId xmlns:a16="http://schemas.microsoft.com/office/drawing/2014/main" id="{15F23AE2-ED02-ABBA-6746-2B1200F03FA3}"/>
              </a:ext>
            </a:extLst>
          </p:cNvPr>
          <p:cNvSpPr/>
          <p:nvPr/>
        </p:nvSpPr>
        <p:spPr>
          <a:xfrm>
            <a:off x="1429097" y="7687313"/>
            <a:ext cx="7549803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Worker Effect: Individual tendency to perform faster or slower than expected</a:t>
            </a:r>
            <a:endParaRPr sz="1400" dirty="0">
              <a:latin typeface="Montserrat" panose="00000500000000000000" pitchFamily="2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485869F-5DB3-2A90-C56B-63FB0446C81B}"/>
              </a:ext>
            </a:extLst>
          </p:cNvPr>
          <p:cNvCxnSpPr>
            <a:cxnSpLocks/>
            <a:stCxn id="74" idx="1"/>
            <a:endCxn id="76" idx="1"/>
          </p:cNvCxnSpPr>
          <p:nvPr/>
        </p:nvCxnSpPr>
        <p:spPr>
          <a:xfrm rot="10800000" flipH="1" flipV="1">
            <a:off x="895695" y="3018761"/>
            <a:ext cx="533402" cy="1181272"/>
          </a:xfrm>
          <a:prstGeom prst="bentConnector3">
            <a:avLst>
              <a:gd name="adj1" fmla="val -428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E687B455-32FA-82D1-4EDE-296E7527E7D3}"/>
              </a:ext>
            </a:extLst>
          </p:cNvPr>
          <p:cNvCxnSpPr>
            <a:cxnSpLocks/>
            <a:stCxn id="74" idx="1"/>
            <a:endCxn id="78" idx="1"/>
          </p:cNvCxnSpPr>
          <p:nvPr/>
        </p:nvCxnSpPr>
        <p:spPr>
          <a:xfrm rot="10800000" flipH="1" flipV="1">
            <a:off x="895695" y="3018761"/>
            <a:ext cx="533402" cy="5045742"/>
          </a:xfrm>
          <a:prstGeom prst="bentConnector3">
            <a:avLst>
              <a:gd name="adj1" fmla="val -428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1">
            <a:extLst>
              <a:ext uri="{FF2B5EF4-FFF2-40B4-BE49-F238E27FC236}">
                <a16:creationId xmlns:a16="http://schemas.microsoft.com/office/drawing/2014/main" id="{211275A1-BDFB-034A-D37D-08D383747F6C}"/>
              </a:ext>
            </a:extLst>
          </p:cNvPr>
          <p:cNvSpPr/>
          <p:nvPr/>
        </p:nvSpPr>
        <p:spPr>
          <a:xfrm>
            <a:off x="548640" y="438913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93" name="Rounded Rectangle 50">
            <a:extLst>
              <a:ext uri="{FF2B5EF4-FFF2-40B4-BE49-F238E27FC236}">
                <a16:creationId xmlns:a16="http://schemas.microsoft.com/office/drawing/2014/main" id="{DF44577E-6C7C-BACF-683C-E4E8B5867ED8}"/>
              </a:ext>
            </a:extLst>
          </p:cNvPr>
          <p:cNvSpPr/>
          <p:nvPr/>
        </p:nvSpPr>
        <p:spPr>
          <a:xfrm>
            <a:off x="1429097" y="8622033"/>
            <a:ext cx="7549803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Error: other factor that cannot record to put into the model - </a:t>
            </a:r>
            <a:r>
              <a:rPr lang="vi-VN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machine interruption; unusual material; job interruption; recording issue;</a:t>
            </a:r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 </a:t>
            </a:r>
            <a:r>
              <a:rPr lang="vi-VN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rework </a:t>
            </a:r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not</a:t>
            </a:r>
            <a:r>
              <a:rPr lang="vi-VN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 capture; environmental factor; random variation.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81084A0-D965-D45D-52D2-8FA64E6CCF70}"/>
              </a:ext>
            </a:extLst>
          </p:cNvPr>
          <p:cNvCxnSpPr>
            <a:cxnSpLocks/>
            <a:stCxn id="74" idx="1"/>
            <a:endCxn id="93" idx="1"/>
          </p:cNvCxnSpPr>
          <p:nvPr/>
        </p:nvCxnSpPr>
        <p:spPr>
          <a:xfrm rot="10800000" flipH="1" flipV="1">
            <a:off x="895695" y="3018761"/>
            <a:ext cx="533402" cy="5980462"/>
          </a:xfrm>
          <a:prstGeom prst="bentConnector3">
            <a:avLst>
              <a:gd name="adj1" fmla="val -428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50">
            <a:extLst>
              <a:ext uri="{FF2B5EF4-FFF2-40B4-BE49-F238E27FC236}">
                <a16:creationId xmlns:a16="http://schemas.microsoft.com/office/drawing/2014/main" id="{B029E98E-9470-F422-1374-ABE359BA4AEE}"/>
              </a:ext>
            </a:extLst>
          </p:cNvPr>
          <p:cNvSpPr/>
          <p:nvPr/>
        </p:nvSpPr>
        <p:spPr>
          <a:xfrm>
            <a:off x="4551680" y="4811611"/>
            <a:ext cx="5176520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Work Content = Based on the Quoted Hours Calibrated with Calculated Technical Difficulty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18" name="Rounded Rectangle 50">
            <a:extLst>
              <a:ext uri="{FF2B5EF4-FFF2-40B4-BE49-F238E27FC236}">
                <a16:creationId xmlns:a16="http://schemas.microsoft.com/office/drawing/2014/main" id="{6705D355-2476-C39D-E962-B64269BEE606}"/>
              </a:ext>
            </a:extLst>
          </p:cNvPr>
          <p:cNvSpPr/>
          <p:nvPr/>
        </p:nvSpPr>
        <p:spPr>
          <a:xfrm>
            <a:off x="4551680" y="5800379"/>
            <a:ext cx="5176520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Technical Difficulty = Semi Complexity based on Weight Factor Difficult Score </a:t>
            </a:r>
            <a:endParaRPr sz="1400" dirty="0">
              <a:latin typeface="Montserrat" panose="00000500000000000000" pitchFamily="2" charset="0"/>
            </a:endParaRPr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553EF96C-D52B-2AD8-FBD6-7BD2633BA4D5}"/>
              </a:ext>
            </a:extLst>
          </p:cNvPr>
          <p:cNvCxnSpPr>
            <a:cxnSpLocks/>
            <a:endCxn id="114" idx="1"/>
          </p:cNvCxnSpPr>
          <p:nvPr/>
        </p:nvCxnSpPr>
        <p:spPr>
          <a:xfrm>
            <a:off x="2438400" y="4577223"/>
            <a:ext cx="2113280" cy="611578"/>
          </a:xfrm>
          <a:prstGeom prst="bentConnector3">
            <a:avLst>
              <a:gd name="adj1" fmla="val -10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FB9409E2-E712-9919-5927-BAB3E045C2EB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2387600" y="4577223"/>
            <a:ext cx="2164080" cy="1600346"/>
          </a:xfrm>
          <a:prstGeom prst="bentConnector3">
            <a:avLst>
              <a:gd name="adj1" fmla="val 18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50">
            <a:extLst>
              <a:ext uri="{FF2B5EF4-FFF2-40B4-BE49-F238E27FC236}">
                <a16:creationId xmlns:a16="http://schemas.microsoft.com/office/drawing/2014/main" id="{C528C136-883E-0B02-28A4-7C8F57C538A8}"/>
              </a:ext>
            </a:extLst>
          </p:cNvPr>
          <p:cNvSpPr/>
          <p:nvPr/>
        </p:nvSpPr>
        <p:spPr>
          <a:xfrm>
            <a:off x="1429097" y="3822843"/>
            <a:ext cx="7549803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Production Effort = Work Content + Technical Difficulty 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30" name="Rounded Rectangle 50">
            <a:extLst>
              <a:ext uri="{FF2B5EF4-FFF2-40B4-BE49-F238E27FC236}">
                <a16:creationId xmlns:a16="http://schemas.microsoft.com/office/drawing/2014/main" id="{DD05FBEF-50AD-2D79-A792-E67CA9C52C14}"/>
              </a:ext>
            </a:extLst>
          </p:cNvPr>
          <p:cNvSpPr/>
          <p:nvPr/>
        </p:nvSpPr>
        <p:spPr>
          <a:xfrm>
            <a:off x="12039600" y="2756915"/>
            <a:ext cx="5434584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40% from FPY Difficult Score: Estimated from worker skill and first-pass outcomes (FPY) 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34" name="Rounded Rectangle 50">
            <a:extLst>
              <a:ext uri="{FF2B5EF4-FFF2-40B4-BE49-F238E27FC236}">
                <a16:creationId xmlns:a16="http://schemas.microsoft.com/office/drawing/2014/main" id="{AA76E7AC-AE14-0DB8-0D87-37FC1509D35E}"/>
              </a:ext>
            </a:extLst>
          </p:cNvPr>
          <p:cNvSpPr/>
          <p:nvPr/>
        </p:nvSpPr>
        <p:spPr>
          <a:xfrm>
            <a:off x="12039599" y="3703090"/>
            <a:ext cx="5434583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25% from Process Part &amp; Mechanism Function: Number of parts assembled and product mechanism complexity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36" name="Rounded Rectangle 50">
            <a:extLst>
              <a:ext uri="{FF2B5EF4-FFF2-40B4-BE49-F238E27FC236}">
                <a16:creationId xmlns:a16="http://schemas.microsoft.com/office/drawing/2014/main" id="{12FE392E-85F6-5DF4-1426-9CDFB9C3C52D}"/>
              </a:ext>
            </a:extLst>
          </p:cNvPr>
          <p:cNvSpPr/>
          <p:nvPr/>
        </p:nvSpPr>
        <p:spPr>
          <a:xfrm>
            <a:off x="12039600" y="4649265"/>
            <a:ext cx="5434582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20% from Material, Design &amp; Process Type: Material properties, design intricacy, and process characteristics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38" name="Rounded Rectangle 50">
            <a:extLst>
              <a:ext uri="{FF2B5EF4-FFF2-40B4-BE49-F238E27FC236}">
                <a16:creationId xmlns:a16="http://schemas.microsoft.com/office/drawing/2014/main" id="{DDA281A2-E5C5-4417-1BF5-5D920C6E80FA}"/>
              </a:ext>
            </a:extLst>
          </p:cNvPr>
          <p:cNvSpPr/>
          <p:nvPr/>
        </p:nvSpPr>
        <p:spPr>
          <a:xfrm>
            <a:off x="12039600" y="5783490"/>
            <a:ext cx="5434582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10% from Stone Specifications &amp; Complexity: Total stone count, stone types, and largest stone weight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41" name="Rounded Rectangle 50">
            <a:extLst>
              <a:ext uri="{FF2B5EF4-FFF2-40B4-BE49-F238E27FC236}">
                <a16:creationId xmlns:a16="http://schemas.microsoft.com/office/drawing/2014/main" id="{100E5F9E-8371-CF4A-2996-766CD74683F7}"/>
              </a:ext>
            </a:extLst>
          </p:cNvPr>
          <p:cNvSpPr/>
          <p:nvPr/>
        </p:nvSpPr>
        <p:spPr>
          <a:xfrm>
            <a:off x="12061700" y="6726465"/>
            <a:ext cx="5434582" cy="754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F2C59"/>
                </a:solidFill>
                <a:latin typeface="Montserrat" panose="00000500000000000000" pitchFamily="2" charset="0"/>
              </a:rPr>
              <a:t>5% from Learning Curve / Ramp-up: Time and effort required to reach stable production</a:t>
            </a:r>
            <a:endParaRPr sz="1400" dirty="0">
              <a:latin typeface="Montserrat" panose="00000500000000000000" pitchFamily="2" charset="0"/>
            </a:endParaRPr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87C64F73-7E35-42FB-CA05-71860566F7F4}"/>
              </a:ext>
            </a:extLst>
          </p:cNvPr>
          <p:cNvCxnSpPr>
            <a:stCxn id="118" idx="3"/>
            <a:endCxn id="130" idx="1"/>
          </p:cNvCxnSpPr>
          <p:nvPr/>
        </p:nvCxnSpPr>
        <p:spPr>
          <a:xfrm flipV="1">
            <a:off x="9728200" y="3134105"/>
            <a:ext cx="2311400" cy="30434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9BC0F98A-10A8-22DA-CB00-0B568BC2A876}"/>
              </a:ext>
            </a:extLst>
          </p:cNvPr>
          <p:cNvCxnSpPr>
            <a:stCxn id="118" idx="3"/>
            <a:endCxn id="141" idx="1"/>
          </p:cNvCxnSpPr>
          <p:nvPr/>
        </p:nvCxnSpPr>
        <p:spPr>
          <a:xfrm>
            <a:off x="9728200" y="6177569"/>
            <a:ext cx="2333500" cy="9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8B27EE23-6048-3AE6-3D6C-C9ECCE8C239E}"/>
              </a:ext>
            </a:extLst>
          </p:cNvPr>
          <p:cNvCxnSpPr>
            <a:cxnSpLocks/>
            <a:endCxn id="138" idx="1"/>
          </p:cNvCxnSpPr>
          <p:nvPr/>
        </p:nvCxnSpPr>
        <p:spPr>
          <a:xfrm flipV="1">
            <a:off x="9739250" y="6160680"/>
            <a:ext cx="2300350" cy="312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406E683E-2AFD-12C2-B108-4F1B0D30B609}"/>
              </a:ext>
            </a:extLst>
          </p:cNvPr>
          <p:cNvCxnSpPr>
            <a:endCxn id="136" idx="1"/>
          </p:cNvCxnSpPr>
          <p:nvPr/>
        </p:nvCxnSpPr>
        <p:spPr>
          <a:xfrm flipV="1">
            <a:off x="9728200" y="5026455"/>
            <a:ext cx="2311400" cy="115111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698D08B9-B140-6FD5-4837-87F9F1E1CD09}"/>
              </a:ext>
            </a:extLst>
          </p:cNvPr>
          <p:cNvCxnSpPr>
            <a:stCxn id="118" idx="3"/>
            <a:endCxn id="134" idx="1"/>
          </p:cNvCxnSpPr>
          <p:nvPr/>
        </p:nvCxnSpPr>
        <p:spPr>
          <a:xfrm flipV="1">
            <a:off x="9728200" y="4080280"/>
            <a:ext cx="2311399" cy="20972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753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50CCA3B5-9052-D5F8-57FB-1510703B35B4}"/>
              </a:ext>
            </a:extLst>
          </p:cNvPr>
          <p:cNvSpPr txBox="1"/>
          <p:nvPr/>
        </p:nvSpPr>
        <p:spPr>
          <a:xfrm>
            <a:off x="15595537" y="10019432"/>
            <a:ext cx="2402856" cy="108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10"/>
              </a:lnSpc>
            </a:pPr>
            <a:r>
              <a:rPr lang="en-US" sz="900" spc="75" dirty="0">
                <a:solidFill>
                  <a:schemeClr val="bg1"/>
                </a:solidFill>
                <a:latin typeface="Montserrat" panose="00000500000000000000" pitchFamily="2" charset="0"/>
                <a:ea typeface="Helvetica World"/>
                <a:cs typeface="Helvetica World"/>
                <a:sym typeface="Helvetica World"/>
              </a:rPr>
              <a:t>PAGE X OF 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9E171-AF03-6CEB-DB9D-8F0CC1180955}"/>
              </a:ext>
            </a:extLst>
          </p:cNvPr>
          <p:cNvSpPr txBox="1"/>
          <p:nvPr/>
        </p:nvSpPr>
        <p:spPr>
          <a:xfrm>
            <a:off x="15595537" y="10019432"/>
            <a:ext cx="2402856" cy="108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10"/>
              </a:lnSpc>
            </a:pPr>
            <a:r>
              <a:rPr lang="en-US" sz="900" spc="75" dirty="0">
                <a:solidFill>
                  <a:srgbClr val="4C4C4E"/>
                </a:solidFill>
                <a:latin typeface="Montserrat" panose="00000500000000000000" pitchFamily="2" charset="0"/>
                <a:ea typeface="Helvetica World"/>
                <a:cs typeface="Helvetica World"/>
                <a:sym typeface="Helvetica World"/>
              </a:rPr>
              <a:t>PRESENTATION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50C7F-8AC1-4993-121C-A231FA78618E}"/>
              </a:ext>
            </a:extLst>
          </p:cNvPr>
          <p:cNvSpPr txBox="1"/>
          <p:nvPr/>
        </p:nvSpPr>
        <p:spPr>
          <a:xfrm>
            <a:off x="7961099" y="9991908"/>
            <a:ext cx="2402856" cy="108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"/>
              </a:lnSpc>
            </a:pPr>
            <a:r>
              <a:rPr lang="en-US" sz="900" spc="75" dirty="0">
                <a:solidFill>
                  <a:srgbClr val="4C4C4E"/>
                </a:solidFill>
                <a:latin typeface="Montserrat" panose="00000500000000000000" pitchFamily="2" charset="0"/>
                <a:ea typeface="Helvetica World"/>
                <a:cs typeface="Helvetica World"/>
                <a:sym typeface="Helvetica World"/>
              </a:rPr>
              <a:t>PAGE X OF X</a:t>
            </a:r>
          </a:p>
        </p:txBody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id="{1D1F74FC-7304-69B0-060F-0AC6FBAD77D8}"/>
              </a:ext>
            </a:extLst>
          </p:cNvPr>
          <p:cNvSpPr/>
          <p:nvPr/>
        </p:nvSpPr>
        <p:spPr>
          <a:xfrm>
            <a:off x="8881519" y="2758470"/>
            <a:ext cx="10296430" cy="632088"/>
          </a:xfrm>
          <a:custGeom>
            <a:avLst/>
            <a:gdLst/>
            <a:ahLst/>
            <a:cxnLst/>
            <a:rect l="l" t="t" r="r" b="b"/>
            <a:pathLst>
              <a:path w="13728573" h="842784">
                <a:moveTo>
                  <a:pt x="0" y="0"/>
                </a:moveTo>
                <a:lnTo>
                  <a:pt x="13728573" y="0"/>
                </a:lnTo>
                <a:lnTo>
                  <a:pt x="13728573" y="842784"/>
                </a:lnTo>
                <a:lnTo>
                  <a:pt x="0" y="84278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da-DK">
              <a:latin typeface="Montserrat" panose="00000500000000000000" pitchFamily="2" charset="0"/>
            </a:endParaRPr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151EB978-B93C-1D96-13A1-35AC10A7326E}"/>
              </a:ext>
            </a:extLst>
          </p:cNvPr>
          <p:cNvSpPr/>
          <p:nvPr/>
        </p:nvSpPr>
        <p:spPr>
          <a:xfrm>
            <a:off x="548640" y="438912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6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0444E-A7F9-16C6-9519-05A306E7CF55}"/>
              </a:ext>
            </a:extLst>
          </p:cNvPr>
          <p:cNvSpPr txBox="1"/>
          <p:nvPr/>
        </p:nvSpPr>
        <p:spPr>
          <a:xfrm>
            <a:off x="3429000" y="384049"/>
            <a:ext cx="1001268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IMPLEMENTATION &amp; ROLLOUT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DF0BC1-0758-DFC3-CC34-E56ED47CCF62}"/>
              </a:ext>
            </a:extLst>
          </p:cNvPr>
          <p:cNvSpPr txBox="1"/>
          <p:nvPr/>
        </p:nvSpPr>
        <p:spPr>
          <a:xfrm>
            <a:off x="3429000" y="1131168"/>
            <a:ext cx="10561320" cy="49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 dirty="0">
                <a:solidFill>
                  <a:srgbClr val="5A6473"/>
                </a:solidFill>
                <a:latin typeface="Montserrat" panose="00000500000000000000" pitchFamily="2" charset="0"/>
              </a:rPr>
              <a:t>Deploy the models and dashboards to users, provide training, and ensure smooth adoption and usage across the organization.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58AC4889-8082-FF19-CF7D-E330AE8CF27C}"/>
              </a:ext>
            </a:extLst>
          </p:cNvPr>
          <p:cNvSpPr/>
          <p:nvPr/>
        </p:nvSpPr>
        <p:spPr>
          <a:xfrm>
            <a:off x="14196060" y="384048"/>
            <a:ext cx="3497580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D2F421-381D-EE85-E604-6A63F3B0B306}"/>
              </a:ext>
            </a:extLst>
          </p:cNvPr>
          <p:cNvSpPr txBox="1"/>
          <p:nvPr/>
        </p:nvSpPr>
        <p:spPr>
          <a:xfrm>
            <a:off x="14881861" y="466344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04CDE0-5784-BB39-B676-6960837DDEAC}"/>
              </a:ext>
            </a:extLst>
          </p:cNvPr>
          <p:cNvSpPr txBox="1"/>
          <p:nvPr/>
        </p:nvSpPr>
        <p:spPr>
          <a:xfrm>
            <a:off x="14415516" y="864109"/>
            <a:ext cx="3058668" cy="793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Successfully deploy the skill and complexity system for daily operation and ensure user adoption, engagement, and continuous usage.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37FECA-82A1-D33A-7425-77D961960725}"/>
              </a:ext>
            </a:extLst>
          </p:cNvPr>
          <p:cNvSpPr/>
          <p:nvPr/>
        </p:nvSpPr>
        <p:spPr>
          <a:xfrm>
            <a:off x="548640" y="1873648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3A4B7265-B0C0-E833-1D54-DE9115832738}"/>
              </a:ext>
            </a:extLst>
          </p:cNvPr>
          <p:cNvSpPr/>
          <p:nvPr/>
        </p:nvSpPr>
        <p:spPr>
          <a:xfrm>
            <a:off x="548640" y="2093104"/>
            <a:ext cx="17186148" cy="25786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AB7A1E-D893-63F4-6B0B-3F5775164DE2}"/>
              </a:ext>
            </a:extLst>
          </p:cNvPr>
          <p:cNvSpPr/>
          <p:nvPr/>
        </p:nvSpPr>
        <p:spPr>
          <a:xfrm>
            <a:off x="822960" y="2339992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⚙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33E550-568E-845F-3818-F5528D22B961}"/>
              </a:ext>
            </a:extLst>
          </p:cNvPr>
          <p:cNvSpPr txBox="1"/>
          <p:nvPr/>
        </p:nvSpPr>
        <p:spPr>
          <a:xfrm>
            <a:off x="1316736" y="2374031"/>
            <a:ext cx="16143732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Implementation Workflow</a:t>
            </a:r>
          </a:p>
        </p:txBody>
      </p:sp>
      <p:sp>
        <p:nvSpPr>
          <p:cNvPr id="38" name="Rounded Rectangle 15">
            <a:extLst>
              <a:ext uri="{FF2B5EF4-FFF2-40B4-BE49-F238E27FC236}">
                <a16:creationId xmlns:a16="http://schemas.microsoft.com/office/drawing/2014/main" id="{0D7F21D4-0D23-EA35-2B98-DF2691EB4788}"/>
              </a:ext>
            </a:extLst>
          </p:cNvPr>
          <p:cNvSpPr/>
          <p:nvPr/>
        </p:nvSpPr>
        <p:spPr>
          <a:xfrm>
            <a:off x="822961" y="2888632"/>
            <a:ext cx="3086099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560F32E-9419-10BB-A563-D961196B7BD3}"/>
              </a:ext>
            </a:extLst>
          </p:cNvPr>
          <p:cNvSpPr/>
          <p:nvPr/>
        </p:nvSpPr>
        <p:spPr>
          <a:xfrm>
            <a:off x="2077974" y="2984643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D92C11-A034-29C9-257F-213F1DE1A5A4}"/>
              </a:ext>
            </a:extLst>
          </p:cNvPr>
          <p:cNvSpPr txBox="1"/>
          <p:nvPr/>
        </p:nvSpPr>
        <p:spPr>
          <a:xfrm>
            <a:off x="905257" y="3574432"/>
            <a:ext cx="2921507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System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Setup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92A14E-A28A-933C-D8C1-EE6DD8E823FA}"/>
              </a:ext>
            </a:extLst>
          </p:cNvPr>
          <p:cNvSpPr txBox="1"/>
          <p:nvPr/>
        </p:nvSpPr>
        <p:spPr>
          <a:xfrm>
            <a:off x="932689" y="4068208"/>
            <a:ext cx="2866643" cy="177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Configure system, roles &amp; permissions</a:t>
            </a:r>
          </a:p>
        </p:txBody>
      </p:sp>
      <p:sp>
        <p:nvSpPr>
          <p:cNvPr id="49" name="Right Arrow 19">
            <a:extLst>
              <a:ext uri="{FF2B5EF4-FFF2-40B4-BE49-F238E27FC236}">
                <a16:creationId xmlns:a16="http://schemas.microsoft.com/office/drawing/2014/main" id="{D59F297D-B5D3-D1A3-FCE7-B1FA50971D29}"/>
              </a:ext>
            </a:extLst>
          </p:cNvPr>
          <p:cNvSpPr/>
          <p:nvPr/>
        </p:nvSpPr>
        <p:spPr>
          <a:xfrm>
            <a:off x="3922775" y="3560716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2FFAEE2E-F3F7-E193-6816-21DCC74B7591}"/>
              </a:ext>
            </a:extLst>
          </p:cNvPr>
          <p:cNvSpPr/>
          <p:nvPr/>
        </p:nvSpPr>
        <p:spPr>
          <a:xfrm>
            <a:off x="4210813" y="2888632"/>
            <a:ext cx="3086099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48CB03-434A-F31E-BC9F-7B1EFDBFFE35}"/>
              </a:ext>
            </a:extLst>
          </p:cNvPr>
          <p:cNvSpPr/>
          <p:nvPr/>
        </p:nvSpPr>
        <p:spPr>
          <a:xfrm>
            <a:off x="5465825" y="2984643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7648C9-6DB0-0B1C-0DFD-E22DC0721EEF}"/>
              </a:ext>
            </a:extLst>
          </p:cNvPr>
          <p:cNvSpPr txBox="1"/>
          <p:nvPr/>
        </p:nvSpPr>
        <p:spPr>
          <a:xfrm>
            <a:off x="4293109" y="3574432"/>
            <a:ext cx="2921507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User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Training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700AC6-7BFD-AB43-F288-7312FF50758C}"/>
              </a:ext>
            </a:extLst>
          </p:cNvPr>
          <p:cNvSpPr txBox="1"/>
          <p:nvPr/>
        </p:nvSpPr>
        <p:spPr>
          <a:xfrm>
            <a:off x="4320541" y="4068208"/>
            <a:ext cx="2866643" cy="177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Role-based training, manuals, Q&amp;A</a:t>
            </a:r>
          </a:p>
        </p:txBody>
      </p:sp>
      <p:sp>
        <p:nvSpPr>
          <p:cNvPr id="59" name="Right Arrow 24">
            <a:extLst>
              <a:ext uri="{FF2B5EF4-FFF2-40B4-BE49-F238E27FC236}">
                <a16:creationId xmlns:a16="http://schemas.microsoft.com/office/drawing/2014/main" id="{C9E6C91A-D3FC-5779-B9EB-51011DC1A81A}"/>
              </a:ext>
            </a:extLst>
          </p:cNvPr>
          <p:cNvSpPr/>
          <p:nvPr/>
        </p:nvSpPr>
        <p:spPr>
          <a:xfrm>
            <a:off x="7310627" y="3560716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1408D9CF-FD25-D08F-81A8-DE8845F9CCBC}"/>
              </a:ext>
            </a:extLst>
          </p:cNvPr>
          <p:cNvSpPr/>
          <p:nvPr/>
        </p:nvSpPr>
        <p:spPr>
          <a:xfrm>
            <a:off x="7598663" y="2888632"/>
            <a:ext cx="3086099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ED64513-F23A-65E7-68E6-1493D4D37BE4}"/>
              </a:ext>
            </a:extLst>
          </p:cNvPr>
          <p:cNvSpPr/>
          <p:nvPr/>
        </p:nvSpPr>
        <p:spPr>
          <a:xfrm>
            <a:off x="8853677" y="2984643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EAD330-3D11-CB65-BE3A-EA22B0FE9183}"/>
              </a:ext>
            </a:extLst>
          </p:cNvPr>
          <p:cNvSpPr txBox="1"/>
          <p:nvPr/>
        </p:nvSpPr>
        <p:spPr>
          <a:xfrm>
            <a:off x="7680959" y="3574432"/>
            <a:ext cx="2921507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Pilot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Testing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51E28F-1100-A09A-1D16-414C231B643C}"/>
              </a:ext>
            </a:extLst>
          </p:cNvPr>
          <p:cNvSpPr txBox="1"/>
          <p:nvPr/>
        </p:nvSpPr>
        <p:spPr>
          <a:xfrm>
            <a:off x="7708391" y="4068208"/>
            <a:ext cx="2866643" cy="177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Test with pilot users, validate results</a:t>
            </a:r>
          </a:p>
        </p:txBody>
      </p:sp>
      <p:sp>
        <p:nvSpPr>
          <p:cNvPr id="69" name="Right Arrow 29">
            <a:extLst>
              <a:ext uri="{FF2B5EF4-FFF2-40B4-BE49-F238E27FC236}">
                <a16:creationId xmlns:a16="http://schemas.microsoft.com/office/drawing/2014/main" id="{1C0AC075-737E-2E86-60F4-E85ED06CAAE6}"/>
              </a:ext>
            </a:extLst>
          </p:cNvPr>
          <p:cNvSpPr/>
          <p:nvPr/>
        </p:nvSpPr>
        <p:spPr>
          <a:xfrm>
            <a:off x="10698479" y="3560716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1" name="Rounded Rectangle 30">
            <a:extLst>
              <a:ext uri="{FF2B5EF4-FFF2-40B4-BE49-F238E27FC236}">
                <a16:creationId xmlns:a16="http://schemas.microsoft.com/office/drawing/2014/main" id="{2F634CF5-2382-B752-C035-2249458595C1}"/>
              </a:ext>
            </a:extLst>
          </p:cNvPr>
          <p:cNvSpPr/>
          <p:nvPr/>
        </p:nvSpPr>
        <p:spPr>
          <a:xfrm>
            <a:off x="10986517" y="2888632"/>
            <a:ext cx="3086099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74126B9-B219-1615-29FE-E15F9172C95E}"/>
              </a:ext>
            </a:extLst>
          </p:cNvPr>
          <p:cNvSpPr/>
          <p:nvPr/>
        </p:nvSpPr>
        <p:spPr>
          <a:xfrm>
            <a:off x="12241529" y="2984643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76E70B-3899-5A88-4B6A-C62348AB1F69}"/>
              </a:ext>
            </a:extLst>
          </p:cNvPr>
          <p:cNvSpPr txBox="1"/>
          <p:nvPr/>
        </p:nvSpPr>
        <p:spPr>
          <a:xfrm>
            <a:off x="11068813" y="3574433"/>
            <a:ext cx="2921507" cy="203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Go-Live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7EBA782-3610-8A2A-76CF-A2158AA9E850}"/>
              </a:ext>
            </a:extLst>
          </p:cNvPr>
          <p:cNvSpPr txBox="1"/>
          <p:nvPr/>
        </p:nvSpPr>
        <p:spPr>
          <a:xfrm>
            <a:off x="11096245" y="4068208"/>
            <a:ext cx="2866643" cy="177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Deploy to all users, announce go-live</a:t>
            </a:r>
          </a:p>
        </p:txBody>
      </p:sp>
      <p:sp>
        <p:nvSpPr>
          <p:cNvPr id="79" name="Right Arrow 34">
            <a:extLst>
              <a:ext uri="{FF2B5EF4-FFF2-40B4-BE49-F238E27FC236}">
                <a16:creationId xmlns:a16="http://schemas.microsoft.com/office/drawing/2014/main" id="{195D8142-CB38-784A-9E7B-4B8F0555FDA6}"/>
              </a:ext>
            </a:extLst>
          </p:cNvPr>
          <p:cNvSpPr/>
          <p:nvPr/>
        </p:nvSpPr>
        <p:spPr>
          <a:xfrm>
            <a:off x="14086332" y="3560716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1" name="Rounded Rectangle 35">
            <a:extLst>
              <a:ext uri="{FF2B5EF4-FFF2-40B4-BE49-F238E27FC236}">
                <a16:creationId xmlns:a16="http://schemas.microsoft.com/office/drawing/2014/main" id="{5BE4D9F0-E79F-B5D7-3CFF-D37FCEFFCD5F}"/>
              </a:ext>
            </a:extLst>
          </p:cNvPr>
          <p:cNvSpPr/>
          <p:nvPr/>
        </p:nvSpPr>
        <p:spPr>
          <a:xfrm>
            <a:off x="14374367" y="2888632"/>
            <a:ext cx="3086099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41B3B25-7D4F-2A49-451C-0E1414ABAB9B}"/>
              </a:ext>
            </a:extLst>
          </p:cNvPr>
          <p:cNvSpPr/>
          <p:nvPr/>
        </p:nvSpPr>
        <p:spPr>
          <a:xfrm>
            <a:off x="15629381" y="2984643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7C9F3A5-8DEF-8648-5A00-018A4669E2F2}"/>
              </a:ext>
            </a:extLst>
          </p:cNvPr>
          <p:cNvSpPr txBox="1"/>
          <p:nvPr/>
        </p:nvSpPr>
        <p:spPr>
          <a:xfrm>
            <a:off x="14456665" y="3574432"/>
            <a:ext cx="2921507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Post-Launch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Support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7854365-2862-FAC0-2D14-C7B4250CF92B}"/>
              </a:ext>
            </a:extLst>
          </p:cNvPr>
          <p:cNvSpPr txBox="1"/>
          <p:nvPr/>
        </p:nvSpPr>
        <p:spPr>
          <a:xfrm>
            <a:off x="14484095" y="4068208"/>
            <a:ext cx="2866643" cy="177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User support, monitor, resolve issues</a:t>
            </a:r>
          </a:p>
        </p:txBody>
      </p:sp>
      <p:sp>
        <p:nvSpPr>
          <p:cNvPr id="89" name="Rounded Rectangle 39">
            <a:extLst>
              <a:ext uri="{FF2B5EF4-FFF2-40B4-BE49-F238E27FC236}">
                <a16:creationId xmlns:a16="http://schemas.microsoft.com/office/drawing/2014/main" id="{1812E026-B37A-E5DD-718B-243DED746253}"/>
              </a:ext>
            </a:extLst>
          </p:cNvPr>
          <p:cNvSpPr/>
          <p:nvPr/>
        </p:nvSpPr>
        <p:spPr>
          <a:xfrm>
            <a:off x="548640" y="4891168"/>
            <a:ext cx="9316593" cy="304495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53BF380-99EB-5532-8DBC-DA85EAC8A6EE}"/>
              </a:ext>
            </a:extLst>
          </p:cNvPr>
          <p:cNvSpPr/>
          <p:nvPr/>
        </p:nvSpPr>
        <p:spPr>
          <a:xfrm>
            <a:off x="795528" y="5110624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✓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8AF9322-29E8-2CA4-CFD9-03605FDB44AC}"/>
              </a:ext>
            </a:extLst>
          </p:cNvPr>
          <p:cNvSpPr txBox="1"/>
          <p:nvPr/>
        </p:nvSpPr>
        <p:spPr>
          <a:xfrm>
            <a:off x="1289304" y="5150432"/>
            <a:ext cx="832904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0F2C59"/>
                </a:solidFill>
                <a:latin typeface="Montserrat" panose="00000500000000000000" pitchFamily="2" charset="0"/>
              </a:rPr>
              <a:t>Key Activities &amp; Deliverables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501F350-A481-43BD-6284-0381CFFA631F}"/>
              </a:ext>
            </a:extLst>
          </p:cNvPr>
          <p:cNvSpPr txBox="1"/>
          <p:nvPr/>
        </p:nvSpPr>
        <p:spPr>
          <a:xfrm>
            <a:off x="850392" y="5659265"/>
            <a:ext cx="8740521" cy="1454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03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03" b="1" dirty="0">
                <a:solidFill>
                  <a:srgbClr val="1E293B"/>
                </a:solidFill>
                <a:latin typeface="Montserrat" panose="00000500000000000000" pitchFamily="2" charset="0"/>
              </a:rPr>
              <a:t>Role-Based Access: </a:t>
            </a:r>
            <a:r>
              <a:rPr sz="1303" dirty="0">
                <a:solidFill>
                  <a:srgbClr val="5A6473"/>
                </a:solidFill>
                <a:latin typeface="Montserrat" panose="00000500000000000000" pitchFamily="2" charset="0"/>
              </a:rPr>
              <a:t>set up roles/permissions for planners, engineers, management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03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03" b="1" dirty="0">
                <a:solidFill>
                  <a:srgbClr val="1E293B"/>
                </a:solidFill>
                <a:latin typeface="Montserrat" panose="00000500000000000000" pitchFamily="2" charset="0"/>
              </a:rPr>
              <a:t>Training &amp; Enablement: </a:t>
            </a:r>
            <a:r>
              <a:rPr sz="1303" dirty="0">
                <a:solidFill>
                  <a:srgbClr val="5A6473"/>
                </a:solidFill>
                <a:latin typeface="Montserrat" panose="00000500000000000000" pitchFamily="2" charset="0"/>
              </a:rPr>
              <a:t>deliver training sessions &amp; documentation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03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03" b="1" dirty="0">
                <a:solidFill>
                  <a:srgbClr val="1E293B"/>
                </a:solidFill>
                <a:latin typeface="Montserrat" panose="00000500000000000000" pitchFamily="2" charset="0"/>
              </a:rPr>
              <a:t>Pilot &amp; Validation: </a:t>
            </a:r>
            <a:r>
              <a:rPr sz="1303" dirty="0">
                <a:solidFill>
                  <a:srgbClr val="5A6473"/>
                </a:solidFill>
                <a:latin typeface="Montserrat" panose="00000500000000000000" pitchFamily="2" charset="0"/>
              </a:rPr>
              <a:t>run pilot, validate accuracy and usability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03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03" b="1" dirty="0">
                <a:solidFill>
                  <a:srgbClr val="1E293B"/>
                </a:solidFill>
                <a:latin typeface="Montserrat" panose="00000500000000000000" pitchFamily="2" charset="0"/>
              </a:rPr>
              <a:t>Go-Live Communication: </a:t>
            </a:r>
            <a:r>
              <a:rPr sz="1303" dirty="0">
                <a:solidFill>
                  <a:srgbClr val="5A6473"/>
                </a:solidFill>
                <a:latin typeface="Montserrat" panose="00000500000000000000" pitchFamily="2" charset="0"/>
              </a:rPr>
              <a:t>communicate plan &amp; guidelines to all users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303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303" b="1" dirty="0">
                <a:solidFill>
                  <a:srgbClr val="1E293B"/>
                </a:solidFill>
                <a:latin typeface="Montserrat" panose="00000500000000000000" pitchFamily="2" charset="0"/>
              </a:rPr>
              <a:t>Support &amp; Feedback: </a:t>
            </a:r>
            <a:r>
              <a:rPr sz="1303" dirty="0">
                <a:solidFill>
                  <a:srgbClr val="5A6473"/>
                </a:solidFill>
                <a:latin typeface="Montserrat" panose="00000500000000000000" pitchFamily="2" charset="0"/>
              </a:rPr>
              <a:t>establish support channel, collect feedback</a:t>
            </a:r>
          </a:p>
        </p:txBody>
      </p:sp>
      <p:sp>
        <p:nvSpPr>
          <p:cNvPr id="97" name="Rounded Rectangle 43">
            <a:extLst>
              <a:ext uri="{FF2B5EF4-FFF2-40B4-BE49-F238E27FC236}">
                <a16:creationId xmlns:a16="http://schemas.microsoft.com/office/drawing/2014/main" id="{EB1D08B5-0E42-6FD5-91D5-12F68728B63C}"/>
              </a:ext>
            </a:extLst>
          </p:cNvPr>
          <p:cNvSpPr/>
          <p:nvPr/>
        </p:nvSpPr>
        <p:spPr>
          <a:xfrm>
            <a:off x="10112121" y="4891168"/>
            <a:ext cx="7622667" cy="304495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90796F2-B0B1-7B76-57B0-06B7E9C449DF}"/>
              </a:ext>
            </a:extLst>
          </p:cNvPr>
          <p:cNvSpPr/>
          <p:nvPr/>
        </p:nvSpPr>
        <p:spPr>
          <a:xfrm>
            <a:off x="10386441" y="5095147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⚑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D800EB4-5895-DCE9-1686-C11CECFBB135}"/>
              </a:ext>
            </a:extLst>
          </p:cNvPr>
          <p:cNvSpPr txBox="1"/>
          <p:nvPr/>
        </p:nvSpPr>
        <p:spPr>
          <a:xfrm>
            <a:off x="10880217" y="5129185"/>
            <a:ext cx="658025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dirty="0">
                <a:solidFill>
                  <a:srgbClr val="0F2C59"/>
                </a:solidFill>
                <a:latin typeface="Montserrat" panose="00000500000000000000" pitchFamily="2" charset="0"/>
              </a:rPr>
              <a:t>Key Outputs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54AA209-E771-78BD-49B9-0187B6436931}"/>
              </a:ext>
            </a:extLst>
          </p:cNvPr>
          <p:cNvSpPr txBox="1"/>
          <p:nvPr/>
        </p:nvSpPr>
        <p:spPr>
          <a:xfrm>
            <a:off x="10413871" y="5592788"/>
            <a:ext cx="7046595" cy="143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75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Deployed System: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live, configured, with user access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75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Live Dashboards &amp; Reports: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available to all users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75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User Documentation: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manuals, quick guides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75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Trained Users: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ready to use the system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75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Support Process: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active support &amp; feedback mechanism</a:t>
            </a:r>
          </a:p>
        </p:txBody>
      </p:sp>
      <p:sp>
        <p:nvSpPr>
          <p:cNvPr id="105" name="Rounded Rectangle 47">
            <a:extLst>
              <a:ext uri="{FF2B5EF4-FFF2-40B4-BE49-F238E27FC236}">
                <a16:creationId xmlns:a16="http://schemas.microsoft.com/office/drawing/2014/main" id="{20DAC71A-5359-0EB8-A05D-4F2FAA6209D1}"/>
              </a:ext>
            </a:extLst>
          </p:cNvPr>
          <p:cNvSpPr/>
          <p:nvPr/>
        </p:nvSpPr>
        <p:spPr>
          <a:xfrm>
            <a:off x="548641" y="8100713"/>
            <a:ext cx="6575783" cy="119073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37922C4-BF10-162F-6604-11C4A27FA92E}"/>
              </a:ext>
            </a:extLst>
          </p:cNvPr>
          <p:cNvSpPr/>
          <p:nvPr/>
        </p:nvSpPr>
        <p:spPr>
          <a:xfrm>
            <a:off x="726948" y="8251588"/>
            <a:ext cx="411480" cy="411480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↻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CE7C865-2189-EDE9-35A1-D07FF7450E02}"/>
              </a:ext>
            </a:extLst>
          </p:cNvPr>
          <p:cNvSpPr txBox="1"/>
          <p:nvPr/>
        </p:nvSpPr>
        <p:spPr>
          <a:xfrm>
            <a:off x="1261873" y="8279021"/>
            <a:ext cx="5615663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0F2C59"/>
                </a:solidFill>
                <a:latin typeface="Montserrat" panose="00000500000000000000" pitchFamily="2" charset="0"/>
              </a:rPr>
              <a:t>Change Management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65FA197-2F57-87F8-E54E-5165E4F656CA}"/>
              </a:ext>
            </a:extLst>
          </p:cNvPr>
          <p:cNvSpPr txBox="1"/>
          <p:nvPr/>
        </p:nvSpPr>
        <p:spPr>
          <a:xfrm>
            <a:off x="850393" y="8759081"/>
            <a:ext cx="6027143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Stakeholder Engagement &amp; Change Communication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Adoption Monitoring &amp; Continuous Improvement</a:t>
            </a:r>
          </a:p>
        </p:txBody>
      </p:sp>
      <p:sp>
        <p:nvSpPr>
          <p:cNvPr id="113" name="Rounded Rectangle 51">
            <a:extLst>
              <a:ext uri="{FF2B5EF4-FFF2-40B4-BE49-F238E27FC236}">
                <a16:creationId xmlns:a16="http://schemas.microsoft.com/office/drawing/2014/main" id="{764E972C-B2A9-4AC1-7DD3-B7582BDABE58}"/>
              </a:ext>
            </a:extLst>
          </p:cNvPr>
          <p:cNvSpPr/>
          <p:nvPr/>
        </p:nvSpPr>
        <p:spPr>
          <a:xfrm>
            <a:off x="7371311" y="8100713"/>
            <a:ext cx="5058294" cy="119073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CF2D94CC-5A0F-0DFD-11D8-07AF2F3CB6CE}"/>
              </a:ext>
            </a:extLst>
          </p:cNvPr>
          <p:cNvSpPr/>
          <p:nvPr/>
        </p:nvSpPr>
        <p:spPr>
          <a:xfrm>
            <a:off x="7549619" y="825158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4DDF08A-6C24-679A-B476-5E929D1B40C4}"/>
              </a:ext>
            </a:extLst>
          </p:cNvPr>
          <p:cNvSpPr txBox="1"/>
          <p:nvPr/>
        </p:nvSpPr>
        <p:spPr>
          <a:xfrm>
            <a:off x="8084543" y="8279021"/>
            <a:ext cx="409817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Success Criteria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979DD0D-6D98-D928-694A-B2D1A7BA5D82}"/>
              </a:ext>
            </a:extLst>
          </p:cNvPr>
          <p:cNvSpPr txBox="1"/>
          <p:nvPr/>
        </p:nvSpPr>
        <p:spPr>
          <a:xfrm>
            <a:off x="7673063" y="8759081"/>
            <a:ext cx="450965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&gt; 90% target users trained and active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User satisfaction score ≥ 4.0 / 5.0</a:t>
            </a:r>
          </a:p>
        </p:txBody>
      </p:sp>
      <p:sp>
        <p:nvSpPr>
          <p:cNvPr id="121" name="Rounded Rectangle 55">
            <a:extLst>
              <a:ext uri="{FF2B5EF4-FFF2-40B4-BE49-F238E27FC236}">
                <a16:creationId xmlns:a16="http://schemas.microsoft.com/office/drawing/2014/main" id="{CBCD4CB0-B6F7-4CF5-8549-AA8F821773CD}"/>
              </a:ext>
            </a:extLst>
          </p:cNvPr>
          <p:cNvSpPr/>
          <p:nvPr/>
        </p:nvSpPr>
        <p:spPr>
          <a:xfrm>
            <a:off x="12676493" y="8100713"/>
            <a:ext cx="5058294" cy="119073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B15048D-A766-0EA2-3F55-F9ADD93BB9D2}"/>
              </a:ext>
            </a:extLst>
          </p:cNvPr>
          <p:cNvSpPr/>
          <p:nvPr/>
        </p:nvSpPr>
        <p:spPr>
          <a:xfrm>
            <a:off x="12854801" y="8251588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8F8EC31-9369-923B-8BE4-2F0E7C6A2119}"/>
              </a:ext>
            </a:extLst>
          </p:cNvPr>
          <p:cNvSpPr txBox="1"/>
          <p:nvPr/>
        </p:nvSpPr>
        <p:spPr>
          <a:xfrm>
            <a:off x="13389725" y="8279021"/>
            <a:ext cx="409817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EF4444"/>
                </a:solidFill>
                <a:latin typeface="Montserrat" panose="00000500000000000000" pitchFamily="2" charset="0"/>
              </a:rPr>
              <a:t>Risks &amp; Mitigation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589BA40-1DF6-F8C9-BB64-743E8F447872}"/>
              </a:ext>
            </a:extLst>
          </p:cNvPr>
          <p:cNvSpPr txBox="1"/>
          <p:nvPr/>
        </p:nvSpPr>
        <p:spPr>
          <a:xfrm>
            <a:off x="12978245" y="8759080"/>
            <a:ext cx="450965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User resistance → early engagement &amp; support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Low adoption → monitor usage, drive engagement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B368363-58CB-E686-E73B-BE83782D47CD}"/>
              </a:ext>
            </a:extLst>
          </p:cNvPr>
          <p:cNvGrpSpPr/>
          <p:nvPr/>
        </p:nvGrpSpPr>
        <p:grpSpPr>
          <a:xfrm>
            <a:off x="14340079" y="404622"/>
            <a:ext cx="438912" cy="438912"/>
            <a:chOff x="14340079" y="404622"/>
            <a:chExt cx="438912" cy="438912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A796634-4F33-12A6-BEC4-6131EDEA19B4}"/>
                </a:ext>
              </a:extLst>
            </p:cNvPr>
            <p:cNvSpPr/>
            <p:nvPr/>
          </p:nvSpPr>
          <p:spPr>
            <a:xfrm>
              <a:off x="14340079" y="404622"/>
              <a:ext cx="438912" cy="4389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sz="1950" b="1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7FD473E4-BC20-C037-9EA9-3DA5E15D4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5123" r="24516" b="12911"/>
            <a:stretch>
              <a:fillRect/>
            </a:stretch>
          </p:blipFill>
          <p:spPr>
            <a:xfrm>
              <a:off x="14377988" y="404622"/>
              <a:ext cx="366713" cy="4026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3121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38912"/>
            <a:ext cx="2606040" cy="850392"/>
          </a:xfrm>
          <a:prstGeom prst="roundRect">
            <a:avLst>
              <a:gd name="adj" fmla="val 50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rtlCol="0" anchor="ctr"/>
          <a:lstStyle/>
          <a:p>
            <a:pPr algn="ctr"/>
            <a:r>
              <a:rPr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PHASE </a:t>
            </a:r>
            <a:r>
              <a:rPr lang="en-US" sz="2250" b="1" dirty="0">
                <a:solidFill>
                  <a:srgbClr val="FFFFFF"/>
                </a:solidFill>
                <a:latin typeface="Montserrat" panose="00000500000000000000" pitchFamily="2" charset="0"/>
              </a:rPr>
              <a:t>7</a:t>
            </a:r>
            <a:endParaRPr sz="2250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8999" y="384048"/>
            <a:ext cx="10616185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750" b="1" dirty="0">
                <a:solidFill>
                  <a:srgbClr val="0F2C59"/>
                </a:solidFill>
                <a:latin typeface="Montserrat" panose="00000500000000000000" pitchFamily="2" charset="0"/>
              </a:rPr>
              <a:t>DECISION SUPPORT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481328"/>
            <a:ext cx="10561320" cy="49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>
                <a:solidFill>
                  <a:srgbClr val="5A6473"/>
                </a:solidFill>
                <a:latin typeface="Montserrat" panose="00000500000000000000" pitchFamily="2" charset="0"/>
              </a:rPr>
              <a:t>Build a robust, automated data pipeline and integrate results into the system for reliable and continuous usage.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96060" y="384048"/>
            <a:ext cx="3497580" cy="1440180"/>
          </a:xfrm>
          <a:prstGeom prst="roundRect">
            <a:avLst>
              <a:gd name="adj" fmla="val 6000"/>
            </a:avLst>
          </a:prstGeom>
          <a:solidFill>
            <a:srgbClr val="FFF6EB"/>
          </a:solidFill>
          <a:ln w="12700">
            <a:solidFill>
              <a:srgbClr val="FA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4360651" y="52120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50" b="1">
                <a:solidFill>
                  <a:srgbClr val="FFFFFF"/>
                </a:solidFill>
                <a:latin typeface="Montserrat" panose="00000500000000000000" pitchFamily="2" charset="0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81861" y="466344"/>
            <a:ext cx="26746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59E0B"/>
                </a:solidFill>
                <a:latin typeface="Montserrat" panose="00000500000000000000" pitchFamily="2" charset="0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15516" y="864108"/>
            <a:ext cx="3058668" cy="793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Automate data flow, ensure data quality, and integrate all outputs into the system for reliable and continuous usage.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17186148" cy="209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3503337" cy="25786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715768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Input Data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101370"/>
            <a:ext cx="2927265" cy="1771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00" b="1" dirty="0">
                <a:solidFill>
                  <a:srgbClr val="1E293B"/>
                </a:solidFill>
                <a:latin typeface="Montserrat" panose="00000500000000000000" pitchFamily="2" charset="0"/>
              </a:rPr>
              <a:t>Operational Systems: </a:t>
            </a:r>
            <a:r>
              <a:rPr sz="1200" dirty="0">
                <a:solidFill>
                  <a:srgbClr val="5A6473"/>
                </a:solidFill>
                <a:latin typeface="Montserrat" panose="00000500000000000000" pitchFamily="2" charset="0"/>
              </a:rPr>
              <a:t>PFE, RAF, QC, ERP, Attendance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00" b="1" dirty="0">
                <a:solidFill>
                  <a:srgbClr val="1E293B"/>
                </a:solidFill>
                <a:latin typeface="Montserrat" panose="00000500000000000000" pitchFamily="2" charset="0"/>
              </a:rPr>
              <a:t>Reference Data: </a:t>
            </a:r>
            <a:r>
              <a:rPr sz="1200" dirty="0">
                <a:solidFill>
                  <a:srgbClr val="5A6473"/>
                </a:solidFill>
                <a:latin typeface="Montserrat" panose="00000500000000000000" pitchFamily="2" charset="0"/>
              </a:rPr>
              <a:t>Benchmark, Certified Skill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00" b="1" dirty="0">
                <a:solidFill>
                  <a:srgbClr val="1E293B"/>
                </a:solidFill>
                <a:latin typeface="Montserrat" panose="00000500000000000000" pitchFamily="2" charset="0"/>
              </a:rPr>
              <a:t>User Inputs: </a:t>
            </a:r>
            <a:r>
              <a:rPr sz="1200" dirty="0">
                <a:solidFill>
                  <a:srgbClr val="5A6473"/>
                </a:solidFill>
                <a:latin typeface="Montserrat" panose="00000500000000000000" pitchFamily="2" charset="0"/>
              </a:rPr>
              <a:t>Planner review, approval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dirty="0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00" b="1" dirty="0">
                <a:solidFill>
                  <a:srgbClr val="1E293B"/>
                </a:solidFill>
                <a:latin typeface="Montserrat" panose="00000500000000000000" pitchFamily="2" charset="0"/>
              </a:rPr>
              <a:t>Data Quality Checks: </a:t>
            </a:r>
            <a:r>
              <a:rPr sz="1200" dirty="0">
                <a:solidFill>
                  <a:srgbClr val="5A6473"/>
                </a:solidFill>
                <a:latin typeface="Montserrat" panose="00000500000000000000" pitchFamily="2" charset="0"/>
              </a:rPr>
              <a:t>validation rules, </a:t>
            </a:r>
            <a:r>
              <a:rPr sz="1200" dirty="0" err="1">
                <a:solidFill>
                  <a:srgbClr val="5A6473"/>
                </a:solidFill>
                <a:latin typeface="Montserrat" panose="00000500000000000000" pitchFamily="2" charset="0"/>
              </a:rPr>
              <a:t>dedup</a:t>
            </a:r>
            <a:endParaRPr sz="1200" dirty="0">
              <a:solidFill>
                <a:srgbClr val="5A6473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98866" y="2441448"/>
            <a:ext cx="9685697" cy="25786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545753" y="2688336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530" y="2722375"/>
            <a:ext cx="8698145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Data Pipeline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5754" y="3236975"/>
            <a:ext cx="1596983" cy="17127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056208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8050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Data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5482" y="4416553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Extract from multiple systems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56452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4488" y="3236976"/>
            <a:ext cx="1596983" cy="1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954942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6784" y="3922777"/>
            <a:ext cx="1432391" cy="611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Data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Transformation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4216" y="4416553"/>
            <a:ext cx="1377527" cy="533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Clean, standardize, enrich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55186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43223" y="3236975"/>
            <a:ext cx="1596983" cy="16831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853678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5519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Data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2951" y="4416553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Validate quality, apply rules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953921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241957" y="3236976"/>
            <a:ext cx="1596983" cy="16831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752413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4253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Data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Loading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685" y="4416552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Load into centralized DB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1852655" y="3943350"/>
            <a:ext cx="274320" cy="192024"/>
          </a:xfrm>
          <a:prstGeom prst="rightArrow">
            <a:avLst/>
          </a:prstGeom>
          <a:solidFill>
            <a:srgbClr val="B4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2140692" y="3236975"/>
            <a:ext cx="1596983" cy="16831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2651147" y="3332987"/>
            <a:ext cx="576072" cy="576072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22988" y="3922776"/>
            <a:ext cx="1432391" cy="407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Integration</a:t>
            </a:r>
          </a:p>
          <a:p>
            <a:pPr algn="ctr">
              <a:lnSpc>
                <a:spcPct val="95000"/>
              </a:lnSpc>
            </a:pPr>
            <a:r>
              <a:rPr sz="1395" b="1">
                <a:solidFill>
                  <a:srgbClr val="0F2C59"/>
                </a:solidFill>
                <a:latin typeface="Montserrat" panose="00000500000000000000" pitchFamily="2" charset="0"/>
              </a:rPr>
              <a:t>&amp;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50420" y="4416553"/>
            <a:ext cx="1377527" cy="35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5">
                <a:solidFill>
                  <a:srgbClr val="5A6473"/>
                </a:solidFill>
                <a:latin typeface="Montserrat" panose="00000500000000000000" pitchFamily="2" charset="0"/>
              </a:rPr>
              <a:t>Deliver to system &amp; dashboards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231450" y="2441448"/>
            <a:ext cx="3503337" cy="25786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4505770" y="2715768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99546" y="2749807"/>
            <a:ext cx="2460921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Key 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533202" y="3175129"/>
            <a:ext cx="2927265" cy="1358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00" b="1" dirty="0">
                <a:solidFill>
                  <a:srgbClr val="1E293B"/>
                </a:solidFill>
                <a:latin typeface="Montserrat" panose="00000500000000000000" pitchFamily="2" charset="0"/>
              </a:rPr>
              <a:t>Integrated Database: </a:t>
            </a:r>
            <a:r>
              <a:rPr sz="1200" dirty="0">
                <a:solidFill>
                  <a:srgbClr val="5A6473"/>
                </a:solidFill>
                <a:latin typeface="Montserrat" panose="00000500000000000000" pitchFamily="2" charset="0"/>
              </a:rPr>
              <a:t>clean, validated, versioned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00" b="1" dirty="0">
                <a:solidFill>
                  <a:srgbClr val="1E293B"/>
                </a:solidFill>
                <a:latin typeface="Montserrat" panose="00000500000000000000" pitchFamily="2" charset="0"/>
              </a:rPr>
              <a:t>Model Results: </a:t>
            </a:r>
            <a:r>
              <a:rPr sz="1200" dirty="0">
                <a:solidFill>
                  <a:srgbClr val="5A6473"/>
                </a:solidFill>
                <a:latin typeface="Montserrat" panose="00000500000000000000" pitchFamily="2" charset="0"/>
              </a:rPr>
              <a:t>capability, complexity scores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00" b="1" dirty="0">
                <a:solidFill>
                  <a:srgbClr val="1E293B"/>
                </a:solidFill>
                <a:latin typeface="Montserrat" panose="00000500000000000000" pitchFamily="2" charset="0"/>
              </a:rPr>
              <a:t>System Integration: </a:t>
            </a:r>
            <a:r>
              <a:rPr sz="1200" dirty="0">
                <a:solidFill>
                  <a:srgbClr val="5A6473"/>
                </a:solidFill>
                <a:latin typeface="Montserrat" panose="00000500000000000000" pitchFamily="2" charset="0"/>
              </a:rPr>
              <a:t>dashboards &amp; operational systems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239512"/>
            <a:ext cx="8469630" cy="304495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E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95528" y="5458968"/>
            <a:ext cx="356616" cy="356616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9304" y="5504547"/>
            <a:ext cx="7482078" cy="2654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0F2C59"/>
                </a:solidFill>
                <a:latin typeface="Montserrat" panose="00000500000000000000" pitchFamily="2" charset="0"/>
              </a:rPr>
              <a:t>Data Architecture Overview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" y="5993893"/>
            <a:ext cx="7893558" cy="11619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>
                <a:solidFill>
                  <a:srgbClr val="1E293B"/>
                </a:solidFill>
                <a:latin typeface="Montserrat" panose="00000500000000000000" pitchFamily="2" charset="0"/>
              </a:rPr>
              <a:t>Sources: </a:t>
            </a:r>
            <a:r>
              <a:rPr sz="1275">
                <a:solidFill>
                  <a:srgbClr val="5A6473"/>
                </a:solidFill>
                <a:latin typeface="Montserrat" panose="00000500000000000000" pitchFamily="2" charset="0"/>
              </a:rPr>
              <a:t>PFE/RAF, QC, ERP, Master Data, Planner Inputs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>
                <a:solidFill>
                  <a:srgbClr val="1E293B"/>
                </a:solidFill>
                <a:latin typeface="Montserrat" panose="00000500000000000000" pitchFamily="2" charset="0"/>
              </a:rPr>
              <a:t>ETL Layer: </a:t>
            </a:r>
            <a:r>
              <a:rPr sz="1275">
                <a:solidFill>
                  <a:srgbClr val="5A6473"/>
                </a:solidFill>
                <a:latin typeface="Montserrat" panose="00000500000000000000" pitchFamily="2" charset="0"/>
              </a:rPr>
              <a:t>Extract → Transform → Cleanse → Standardize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>
                <a:solidFill>
                  <a:srgbClr val="1E293B"/>
                </a:solidFill>
                <a:latin typeface="Montserrat" panose="00000500000000000000" pitchFamily="2" charset="0"/>
              </a:rPr>
              <a:t>Centralized Warehouse: </a:t>
            </a:r>
            <a:r>
              <a:rPr sz="1275">
                <a:solidFill>
                  <a:srgbClr val="5A6473"/>
                </a:solidFill>
                <a:latin typeface="Montserrat" panose="00000500000000000000" pitchFamily="2" charset="0"/>
              </a:rPr>
              <a:t>version control, governance, security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75" b="1">
                <a:solidFill>
                  <a:srgbClr val="1E293B"/>
                </a:solidFill>
                <a:latin typeface="Montserrat" panose="00000500000000000000" pitchFamily="2" charset="0"/>
              </a:rPr>
              <a:t>Analytics Layer: </a:t>
            </a:r>
            <a:r>
              <a:rPr sz="1275">
                <a:solidFill>
                  <a:srgbClr val="5A6473"/>
                </a:solidFill>
                <a:latin typeface="Montserrat" panose="00000500000000000000" pitchFamily="2" charset="0"/>
              </a:rPr>
              <a:t>Capability Model, Complexity Model, Dashboards, Reports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65158" y="5239512"/>
            <a:ext cx="8469630" cy="304495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539478" y="5513831"/>
            <a:ext cx="356616" cy="3566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Montserrat" panose="00000500000000000000" pitchFamily="2" charset="0"/>
              </a:rPr>
              <a:t>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3254" y="5547869"/>
            <a:ext cx="7427214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0F2C59"/>
                </a:solidFill>
                <a:latin typeface="Montserrat" panose="00000500000000000000" pitchFamily="2" charset="0"/>
              </a:rPr>
              <a:t>Integration Points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6909" y="6021322"/>
            <a:ext cx="7893558" cy="11619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Dashboard &amp; Reports: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Power BI / Tableau / Web Portal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System Integration: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API / DB connection, export/import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User Access &amp; Security: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role-based access, audit log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75" b="1" dirty="0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75" b="1" dirty="0">
                <a:solidFill>
                  <a:srgbClr val="1E293B"/>
                </a:solidFill>
                <a:latin typeface="Montserrat" panose="00000500000000000000" pitchFamily="2" charset="0"/>
              </a:rPr>
              <a:t>Notification &amp; Alerts: </a:t>
            </a:r>
            <a:r>
              <a:rPr sz="1275" dirty="0">
                <a:solidFill>
                  <a:srgbClr val="5A6473"/>
                </a:solidFill>
                <a:latin typeface="Montserrat" panose="00000500000000000000" pitchFamily="2" charset="0"/>
              </a:rPr>
              <a:t>data refresh, errors, approval reminders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8449057"/>
            <a:ext cx="5564124" cy="1091051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726948" y="8599932"/>
            <a:ext cx="411480" cy="411480"/>
          </a:xfrm>
          <a:prstGeom prst="ellipse">
            <a:avLst/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1872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0F2C59"/>
                </a:solidFill>
                <a:latin typeface="Montserrat" panose="00000500000000000000" pitchFamily="2" charset="0"/>
              </a:rPr>
              <a:t>Key Benefits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Automated &amp; reliable, reduces manual work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0F2C59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Real-time, up-to-date 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59652" y="8449057"/>
            <a:ext cx="5564124" cy="1091051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537960" y="859993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72884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Success Criteria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61404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100% required sources integrated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&gt; 95% data accuracy and completeness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170664" y="8449057"/>
            <a:ext cx="5564124" cy="1091051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12348971" y="8599932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83896" y="8627365"/>
            <a:ext cx="4604004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EF4444"/>
                </a:solidFill>
                <a:latin typeface="Montserrat" panose="00000500000000000000" pitchFamily="2" charset="0"/>
              </a:rPr>
              <a:t>Risks &amp; Mitigation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472416" y="9107425"/>
            <a:ext cx="5015484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Data quality → validation rules &amp; monitoring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Pipeline failure → alerts &amp; fallback mechanism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80060"/>
            <a:ext cx="17186148" cy="1440180"/>
          </a:xfrm>
          <a:prstGeom prst="roundRect">
            <a:avLst>
              <a:gd name="adj" fmla="val 6000"/>
            </a:avLst>
          </a:prstGeom>
          <a:solidFill>
            <a:srgbClr val="0F2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8700" y="685800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Montserrat" panose="00000500000000000000" pitchFamily="2" charset="0"/>
              </a:rPr>
              <a:t>EXECUTIVE SUMMARY &amp;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1303020"/>
            <a:ext cx="14401800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>
                <a:solidFill>
                  <a:srgbClr val="D2DCEB"/>
                </a:solidFill>
                <a:latin typeface="Montserrat" panose="00000500000000000000" pitchFamily="2" charset="0"/>
              </a:rPr>
              <a:t>A phased, 8-week program to build a transparent, data-driven skill and complexity system — from pilot to full rollout.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849715"/>
              </p:ext>
            </p:extLst>
          </p:nvPr>
        </p:nvGraphicFramePr>
        <p:xfrm>
          <a:off x="548640" y="2221992"/>
          <a:ext cx="17186148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3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sz="17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Key Output</a:t>
                      </a:r>
                    </a:p>
                  </a:txBody>
                  <a:tcPr marL="82296" marR="82296" marT="27432" marB="27432" anchor="ctr"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Phase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Pilot &amp; Foundation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Cleaned pilot dataset, Go/No-Go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Phase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Benchmark-Based Suggest Skill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Suggest Skill (v1) with confidence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Phase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Certified Skill (Planner Review)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Certified Skill (v1) database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Phase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Capability Model &amp; Suggested Complexity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Suggested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Complexity</a:t>
                      </a:r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 (1–10)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Phase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Technical Complexity Model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Technical Complexity score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Phase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Implementation &amp; Rollout, </a:t>
                      </a:r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Data Pipeline &amp; System Integration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Integrated, automated pipeline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Phase 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Decision Support Dashboard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5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Deployed system, trained users</a:t>
                      </a:r>
                      <a:r>
                        <a:rPr lang="en-US" sz="1500" b="0" dirty="0">
                          <a:solidFill>
                            <a:srgbClr val="1E293B"/>
                          </a:solidFill>
                          <a:latin typeface="Calibri"/>
                        </a:rPr>
                        <a:t>, Skill trend and dashboard</a:t>
                      </a:r>
                    </a:p>
                  </a:txBody>
                  <a:tcPr marL="82296" marR="82296" marT="27432" marB="27432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8476489"/>
            <a:ext cx="3628776" cy="1124711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26948" y="8627363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8654797"/>
            <a:ext cx="2668656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2563EB"/>
                </a:solidFill>
                <a:latin typeface="Montserrat" panose="00000500000000000000" pitchFamily="2" charset="0"/>
              </a:rPr>
              <a:t>Program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9134856"/>
            <a:ext cx="3080136" cy="190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 dirty="0">
                <a:solidFill>
                  <a:srgbClr val="2563EB"/>
                </a:solidFill>
                <a:latin typeface="Montserrat" panose="00000500000000000000" pitchFamily="2" charset="0"/>
              </a:rPr>
              <a:t>•</a:t>
            </a:r>
            <a:endParaRPr sz="1245" dirty="0">
              <a:solidFill>
                <a:srgbClr val="1E293B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24304" y="8476489"/>
            <a:ext cx="6773715" cy="15636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602612" y="8627363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7536" y="8654797"/>
            <a:ext cx="5813595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10B981"/>
                </a:solidFill>
                <a:latin typeface="Montserrat" panose="00000500000000000000" pitchFamily="2" charset="0"/>
              </a:rPr>
              <a:t>Overall Success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6056" y="9134857"/>
            <a:ext cx="6225075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Certified Skill &amp; Complexity models approved and adopted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10B981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Dashboards used weekly; &gt; 90% users trained and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44909" y="8476489"/>
            <a:ext cx="6289878" cy="15636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Montserrat" panose="00000500000000000000" pitchFamily="2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1623217" y="8627363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ontserrat" panose="00000500000000000000" pitchFamily="2" charset="0"/>
              </a:rP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58141" y="8654797"/>
            <a:ext cx="5329758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EF4444"/>
                </a:solidFill>
                <a:latin typeface="Montserrat" panose="00000500000000000000" pitchFamily="2" charset="0"/>
              </a:rPr>
              <a:t>Key Program Risks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46661" y="9134857"/>
            <a:ext cx="5741238" cy="432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Data quality and cross-team alignment across phases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45" b="1">
                <a:solidFill>
                  <a:srgbClr val="EF4444"/>
                </a:solidFill>
                <a:latin typeface="Montserrat" panose="00000500000000000000" pitchFamily="2" charset="0"/>
              </a:rPr>
              <a:t>•  </a:t>
            </a:r>
            <a:r>
              <a:rPr sz="1245">
                <a:solidFill>
                  <a:srgbClr val="1E293B"/>
                </a:solidFill>
                <a:latin typeface="Montserrat" panose="00000500000000000000" pitchFamily="2" charset="0"/>
              </a:rPr>
              <a:t>Mitigated via validation, SLAs, and change management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70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7492" y="4842900"/>
            <a:ext cx="13716000" cy="823389"/>
            <a:chOff x="0" y="0"/>
            <a:chExt cx="18288000" cy="10978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097851"/>
            </a:xfrm>
            <a:custGeom>
              <a:avLst/>
              <a:gdLst/>
              <a:ahLst/>
              <a:cxnLst/>
              <a:rect l="l" t="t" r="r" b="b"/>
              <a:pathLst>
                <a:path w="18288000" h="1097851">
                  <a:moveTo>
                    <a:pt x="0" y="0"/>
                  </a:moveTo>
                  <a:lnTo>
                    <a:pt x="18288000" y="0"/>
                  </a:lnTo>
                  <a:lnTo>
                    <a:pt x="18288000" y="1097851"/>
                  </a:lnTo>
                  <a:lnTo>
                    <a:pt x="0" y="10978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da-D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8288000" cy="105022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455"/>
                </a:lnSpc>
              </a:pPr>
              <a:r>
                <a:rPr lang="en-US" sz="4125" spc="150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7_Brugerdefineret design">
  <a:themeElements>
    <a:clrScheme name="JS MASTER">
      <a:dk1>
        <a:srgbClr val="65705C"/>
      </a:dk1>
      <a:lt1>
        <a:srgbClr val="E4E3E3"/>
      </a:lt1>
      <a:dk2>
        <a:srgbClr val="65705C"/>
      </a:dk2>
      <a:lt2>
        <a:srgbClr val="FFFFFF"/>
      </a:lt2>
      <a:accent1>
        <a:srgbClr val="65705C"/>
      </a:accent1>
      <a:accent2>
        <a:srgbClr val="B4B398"/>
      </a:accent2>
      <a:accent3>
        <a:srgbClr val="CCC6B8"/>
      </a:accent3>
      <a:accent4>
        <a:srgbClr val="454D3E"/>
      </a:accent4>
      <a:accent5>
        <a:srgbClr val="868685"/>
      </a:accent5>
      <a:accent6>
        <a:srgbClr val="BDBCBB"/>
      </a:accent6>
      <a:hlink>
        <a:srgbClr val="E3E3E3"/>
      </a:hlink>
      <a:folHlink>
        <a:srgbClr val="E3E3E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ulie_Sandlau_PowerPoint_template" id="{883E4DB7-6DD8-6B48-8F10-D558CB2F5F09}" vid="{336B430E-9C60-4340-8A74-7DF663E89DBC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2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3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4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5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6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7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8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ppt/theme/themeOverride9.xml><?xml version="1.0" encoding="utf-8"?>
<a:themeOverride xmlns:a="http://schemas.openxmlformats.org/drawingml/2006/main">
  <a:clrScheme name="JS MASTER">
    <a:dk1>
      <a:srgbClr val="65705C"/>
    </a:dk1>
    <a:lt1>
      <a:srgbClr val="E4E3E3"/>
    </a:lt1>
    <a:dk2>
      <a:srgbClr val="65705C"/>
    </a:dk2>
    <a:lt2>
      <a:srgbClr val="FFFFFF"/>
    </a:lt2>
    <a:accent1>
      <a:srgbClr val="65705C"/>
    </a:accent1>
    <a:accent2>
      <a:srgbClr val="B4B398"/>
    </a:accent2>
    <a:accent3>
      <a:srgbClr val="CCC6B8"/>
    </a:accent3>
    <a:accent4>
      <a:srgbClr val="454D3E"/>
    </a:accent4>
    <a:accent5>
      <a:srgbClr val="868685"/>
    </a:accent5>
    <a:accent6>
      <a:srgbClr val="BDBCBB"/>
    </a:accent6>
    <a:hlink>
      <a:srgbClr val="E3E3E3"/>
    </a:hlink>
    <a:folHlink>
      <a:srgbClr val="E3E3E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C3117B49E6A44AAFAD97D3F53C89D7" ma:contentTypeVersion="16" ma:contentTypeDescription="Opret et nyt dokument." ma:contentTypeScope="" ma:versionID="9e63d04f4b076dc64a749a5e58c500b3">
  <xsd:schema xmlns:xsd="http://www.w3.org/2001/XMLSchema" xmlns:xs="http://www.w3.org/2001/XMLSchema" xmlns:p="http://schemas.microsoft.com/office/2006/metadata/properties" xmlns:ns2="7d48f91a-b74e-4e7e-8868-8eed60cb23a1" xmlns:ns3="efd15169-bc6c-48bb-9539-ecf32720a7f2" targetNamespace="http://schemas.microsoft.com/office/2006/metadata/properties" ma:root="true" ma:fieldsID="ea4e3dc6e0cc7d47d02db025d8bf4e3a" ns2:_="" ns3:_="">
    <xsd:import namespace="7d48f91a-b74e-4e7e-8868-8eed60cb23a1"/>
    <xsd:import namespace="efd15169-bc6c-48bb-9539-ecf32720a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8f91a-b74e-4e7e-8868-8eed60cb23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Billedmærker" ma:readOnly="false" ma:fieldId="{5cf76f15-5ced-4ddc-b409-7134ff3c332f}" ma:taxonomyMulti="true" ma:sspId="7fb9a294-2037-4e6b-8586-68764d4569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d15169-bc6c-48bb-9539-ecf32720a7f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1eb11d2-4417-493b-aadd-1aa5200247ca}" ma:internalName="TaxCatchAll" ma:showField="CatchAllData" ma:web="efd15169-bc6c-48bb-9539-ecf32720a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d15169-bc6c-48bb-9539-ecf32720a7f2" xsi:nil="true"/>
    <lcf76f155ced4ddcb4097134ff3c332f xmlns="7d48f91a-b74e-4e7e-8868-8eed60cb23a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967FCD-FC67-4A5A-BEDD-12DD55DC62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0EB3AC-EEE9-4BB7-B85E-49CDD6F429A8}">
  <ds:schemaRefs>
    <ds:schemaRef ds:uri="7d48f91a-b74e-4e7e-8868-8eed60cb23a1"/>
    <ds:schemaRef ds:uri="efd15169-bc6c-48bb-9539-ecf32720a7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03769BF-9BE5-40F0-A680-F9AA2647941C}">
  <ds:schemaRefs>
    <ds:schemaRef ds:uri="7d48f91a-b74e-4e7e-8868-8eed60cb23a1"/>
    <ds:schemaRef ds:uri="efd15169-bc6c-48bb-9539-ecf32720a7f2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4710</TotalTime>
  <Words>3035</Words>
  <Application>Microsoft Office PowerPoint</Application>
  <PresentationFormat>Custom</PresentationFormat>
  <Paragraphs>697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 Light</vt:lpstr>
      <vt:lpstr>Arial</vt:lpstr>
      <vt:lpstr>Aptos</vt:lpstr>
      <vt:lpstr>Montserrat</vt:lpstr>
      <vt:lpstr>Cambria Math</vt:lpstr>
      <vt:lpstr>Calibri</vt:lpstr>
      <vt:lpstr>7_Brugerdefineret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Alexandra-Mihaela Gheorghe</dc:creator>
  <cp:lastModifiedBy>Nguyen Xuan Long</cp:lastModifiedBy>
  <cp:revision>51</cp:revision>
  <dcterms:created xsi:type="dcterms:W3CDTF">2025-08-13T12:42:02Z</dcterms:created>
  <dcterms:modified xsi:type="dcterms:W3CDTF">2026-08-20T08:27:07Z</dcterms:modified>
  <dc:identifier>DAGvdsPLCOM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0x0101001BC3117B49E6A44AAFAD97D3F53C89D7</vt:lpwstr>
  </property>
  <property fmtid="{D5CDD505-2E9C-101B-9397-08002B2CF9AE}" pid="3" name="MediaServiceImageTags">
    <vt:lpwstr/>
  </property>
</Properties>
</file>